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64" y="-2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4F31C-55DA-436E-A878-DE6FB37ED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42515D-CB63-4B70-82D4-504F265F7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096683-CEBF-4DF0-8C1D-0B138047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C5773A-E2CB-4C7F-9A11-FCCD5BBE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6EA7C-8642-4C99-9C1A-9EBFE3235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8447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24078-6B4F-4AE6-AF15-16C69CD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9DD7C5-836D-41AF-9C5E-5D32AB9F7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9B715D-CD76-4B6C-A36F-F81A9A6D4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9BE063-78F1-46B6-AFB9-AAD3A6EA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3DA6C4-CFDC-4222-8341-C8433AF1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85317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D0699-B87C-4B3E-AE63-ADF9D105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54B6FA-572E-4FB0-B9C2-8D1615E08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F094A7-FAFC-4A75-B27C-CA8F513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107147-3054-48EA-A8F9-95982C87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3CFFF9-D919-4672-8F2D-A7C9CB96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26202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02B25-8DFD-4E0B-8BA5-02101CEE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EECD0-4E82-4741-BC7D-867AF1243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B9B516-798C-4788-AD47-22748025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F9806-A017-4B7E-9411-97F8CC58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A5A7E4-5691-4BA2-9E39-F4ACFC98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0A2FBA-3194-4F60-A9F5-4C5FE77B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3510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02E43-2A06-4120-8239-7DE78D58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124818-CF5C-4D81-942D-786F201EA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732CDA-F0BA-4A78-9F8A-900DC923C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226E75-A1DC-4197-AB0A-225600125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FF7914-BACF-41C6-B1F1-24E7DC1D4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E2E576-0BD7-4432-B29E-BD9A8F4B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84E22B-099C-4BD0-A30E-C430C88F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056CAF-8095-490E-BFB2-B2F0718E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16238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EAE83-8E7F-4D44-90F4-27BAA11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EF1FBF-0726-4DF7-9F38-0B6509088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602639-E808-417A-99FA-7E86A1A5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E97009-130A-4EF0-A70C-BAAB27C9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3529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C8924F-4A1B-4ACA-824E-297BFD6B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A4B27D5-E365-47DF-A7C3-28A56331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5F214B-1584-4F41-92FD-D255FA7F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03282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60BEC-A4D0-4CC3-81BA-A956516C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7A0CAE-B9DE-4BC7-9C2C-8D0CAFDE9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A9347D-D878-4E89-865C-C65C11D66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EC6B35-5B10-4C60-B3D6-A26FB8F8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8E4C4F-F410-49C2-9D66-31D25C9E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914694-5F2A-43FB-8AE7-6411CEB4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5233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7050-CB97-4645-8730-A9BFB5B33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CFAF27-2737-46DC-9DB2-C43CED638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2329C5-52B5-4E50-96A5-70F9D3771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A0C916-671A-40F9-A7CD-5A13AB51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EF1F1A-380C-41B3-9015-99851FA6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659F90-9F11-47AA-941B-11C08532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69032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FD756-6C21-4DD4-9825-097573B1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03CBB6-FA60-4E75-8082-C33ED4385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0B9A81-C009-42DB-B424-4522B408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70A45F-EC9B-425E-94AE-8C206107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E5470-0529-443B-8B8F-A9675CD5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29338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256227-F614-4BBC-AF2C-A316DBBAD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BC0E30-E5A8-402F-839D-4F0293D69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30473C-AA37-4D20-B9F9-77D515C5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9B383D-30AF-41F9-837C-66C212C2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F9260E-E259-44AA-B338-40266A28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2027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F44899-6341-4066-A644-49576046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1A836D-2ED3-4974-8373-9B6AF5FA5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D277EC-8947-4A50-923B-94C3677C6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28A28-48F8-457D-B4F6-A26E5391852D}" type="datetimeFigureOut">
              <a:rPr lang="en-US" smtClean="0"/>
              <a:t>12/21/2025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D50944-73D0-476F-B7AE-03D0F1EB4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7E1A39-BC1E-42AB-87FB-C9B85E2D5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44ED0-1E40-4C28-8D00-2A6E69A3F31B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hyperlink" Target="https://dcyadealmudena.blogspot.com/2014/02/tema-1-organizacion-de-las-tic-en-los_12.html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M4jhmXzz8I?feature=oembe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u8ophJLWDLE?feature=share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appuebla.edu.mx/gobierno-abierto-perfil-tecnologico/" TargetMode="External"/><Relationship Id="rId7" Type="http://schemas.openxmlformats.org/officeDocument/2006/relationships/hyperlink" Target="https://www.cfe.gob.mx/Pages/default.aspx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osapac.gob.mx/" TargetMode="External"/><Relationship Id="rId5" Type="http://schemas.openxmlformats.org/officeDocument/2006/relationships/hyperlink" Target="https://www.facebook.com/search/top?q=gobierno%20de%20puebla" TargetMode="External"/><Relationship Id="rId4" Type="http://schemas.openxmlformats.org/officeDocument/2006/relationships/hyperlink" Target="https://www.facebook.com/profile/100069013336344/search/?q=interes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07F026F-B9F4-4DB2-BE5C-50E10606E8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539931"/>
            <a:ext cx="10927322" cy="614661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EB6DBEC-570A-4E5D-9276-854DBC7FAF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59877" y="428581"/>
            <a:ext cx="9221182" cy="60008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6AFBAA-40FC-4D2F-840D-EB008F95C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995" y="26126"/>
            <a:ext cx="6769210" cy="1178386"/>
          </a:xfrm>
        </p:spPr>
        <p:txBody>
          <a:bodyPr/>
          <a:lstStyle/>
          <a:p>
            <a:r>
              <a:rPr lang="es-MX" dirty="0"/>
              <a:t>en la sociedad</a:t>
            </a:r>
            <a:endParaRPr lang="en-US" dirty="0"/>
          </a:p>
        </p:txBody>
      </p:sp>
      <p:pic>
        <p:nvPicPr>
          <p:cNvPr id="3" name="The Beginning">
            <a:hlinkClick r:id="" action="ppaction://media"/>
            <a:extLst>
              <a:ext uri="{FF2B5EF4-FFF2-40B4-BE49-F238E27FC236}">
                <a16:creationId xmlns:a16="http://schemas.microsoft.com/office/drawing/2014/main" id="{4C85BEF9-5A3D-4ABF-A835-EAC4D339A7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9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23000">
        <p14:reveal/>
      </p:transition>
    </mc:Choice>
    <mc:Fallback xmlns="">
      <p:transition advClick="0" advTm="2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07858E5-54FA-4F95-A079-981BBBD06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92" y="36512"/>
            <a:ext cx="10728416" cy="68214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1CF404E-DC8D-4562-96DC-0CA680A1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223" y="18256"/>
            <a:ext cx="3413759" cy="600054"/>
          </a:xfrm>
        </p:spPr>
        <p:txBody>
          <a:bodyPr>
            <a:normAutofit fontScale="90000"/>
          </a:bodyPr>
          <a:lstStyle/>
          <a:p>
            <a:r>
              <a:rPr lang="es-MX" dirty="0"/>
              <a:t>Introducción 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060CA-D12B-43BD-9B75-A160DDF01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55417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MX" dirty="0"/>
              <a:t>En todo el país los gobiernos hacen uso de las TIC al crear sus paginas web y redes sociales con el propósito de que la ciudadanía este informada, comunicada con los gobernantes pero las plataformas principalmente son para, hacer tramites sin necesidad de ir a las dependencias  a que te lo den si no que ya por medio de la digitalización es mas fácil y rápido te ahorras tiempo , y el ahorro de papeles. </a:t>
            </a:r>
          </a:p>
          <a:p>
            <a:pPr algn="just"/>
            <a:r>
              <a:rPr lang="es-MX" dirty="0"/>
              <a:t>Por ejemplo en Puebla en el 2014 el gobierno quiso implementar  un programa de innovación digital y buen gobierno </a:t>
            </a:r>
          </a:p>
          <a:p>
            <a:pPr algn="just"/>
            <a:r>
              <a:rPr lang="es-MX" dirty="0"/>
              <a:t>Nosotros como sociedad estamos en un mundo nuevo en el que las nuevas generaciones han cambiado su forma de vida por medio de las TIC.</a:t>
            </a:r>
          </a:p>
          <a:p>
            <a:pPr algn="just"/>
            <a:r>
              <a:rPr lang="es-MX" dirty="0"/>
              <a:t>La forma de buscar información han cambiado desde la llegada de la generación-N (NET)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7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 advClick="0" advTm="35000">
        <p159:morph option="byObject"/>
      </p:transition>
    </mc:Choice>
    <mc:Fallback xmlns="">
      <p:transition advClick="0" advTm="3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5C324B4-5971-462A-859D-C7034BEF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95" y="4337200"/>
            <a:ext cx="2512695" cy="25208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22575A-28CA-40B6-A47D-50CAD14B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788" y="1690688"/>
            <a:ext cx="5383415" cy="3890446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MX" dirty="0"/>
              <a:t>Para estar en constante comunicación con las personas de nuestra comunidad, poder resolver y cuidarnos de los problemas que nos aquejan, por ejemplo: el robo de gasolina (huachicol).</a:t>
            </a:r>
          </a:p>
          <a:p>
            <a:pPr algn="just"/>
            <a:r>
              <a:rPr lang="es-MX" dirty="0"/>
              <a:t>Usamos </a:t>
            </a:r>
            <a:r>
              <a:rPr lang="es-MX" dirty="0" err="1"/>
              <a:t>whatsapp</a:t>
            </a:r>
            <a:r>
              <a:rPr lang="es-MX" dirty="0"/>
              <a:t> para grupos vecinales de apoyo.</a:t>
            </a:r>
          </a:p>
          <a:p>
            <a:pPr algn="just"/>
            <a:r>
              <a:rPr lang="es-MX" dirty="0"/>
              <a:t>Para actividades agrícolas y ganaderas, se tienen grupos de </a:t>
            </a:r>
            <a:r>
              <a:rPr lang="es-MX" dirty="0" err="1"/>
              <a:t>whatsapp</a:t>
            </a:r>
            <a:r>
              <a:rPr lang="es-MX" dirty="0"/>
              <a:t> para organizarse en cuanto a días de riego de cosechas, reparto de apoyos, etc.</a:t>
            </a:r>
          </a:p>
        </p:txBody>
      </p:sp>
      <p:pic>
        <p:nvPicPr>
          <p:cNvPr id="1026" name="Picture 2" descr="Huachicol: ¿por qué es una prioridad para Trump y Sheinbaum? - Segurilatam">
            <a:extLst>
              <a:ext uri="{FF2B5EF4-FFF2-40B4-BE49-F238E27FC236}">
                <a16:creationId xmlns:a16="http://schemas.microsoft.com/office/drawing/2014/main" id="{98B6DD74-CDD7-400F-A931-BDE50FD57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415" y="1690688"/>
            <a:ext cx="5958839" cy="3128391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154A22-2A01-4664-A9E4-C0A8F082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Raleway" pitchFamily="2" charset="0"/>
              </a:rPr>
              <a:t>Como se usan las TIC en mi comunidad</a:t>
            </a:r>
            <a:endParaRPr lang="en-US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784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00">
        <p14:reveal/>
      </p:transition>
    </mc:Choice>
    <mc:Fallback>
      <p:transition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1B727EE-4796-4F0F-AF1E-EACD2C05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8" y="4939011"/>
            <a:ext cx="3052355" cy="169787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465855E-CB2B-412C-A5FB-568A3094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70" y="4397829"/>
            <a:ext cx="3520440" cy="234696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9368C9-4BA2-4CAA-89A0-571F7145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Raleway" pitchFamily="2" charset="0"/>
              </a:rPr>
              <a:t>Como se usan las TIC en una comunidad diferente a la mía</a:t>
            </a:r>
            <a:endParaRPr lang="en-US" dirty="0">
              <a:latin typeface="Raleway" pitchFamily="2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6A43A-4D22-4C02-85CD-F55E5CB9D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Hay poblaciones en donde mucha gente se ha ido al extranjero y usan las TIC para comunicarse  con sus  familiares por videollamadas.</a:t>
            </a:r>
          </a:p>
          <a:p>
            <a:pPr algn="just"/>
            <a:r>
              <a:rPr lang="es-MX" dirty="0"/>
              <a:t>En otras comunidades por </a:t>
            </a:r>
            <a:r>
              <a:rPr lang="es-MX" b="1" dirty="0">
                <a:latin typeface="+mj-lt"/>
              </a:rPr>
              <a:t>ejemplo </a:t>
            </a:r>
            <a:r>
              <a:rPr lang="es-MX" b="1" i="0" dirty="0">
                <a:effectLst/>
                <a:latin typeface="+mj-lt"/>
              </a:rPr>
              <a:t>en Santa María del Tule, Oaxaca usan las redes sociales como el Facebook para dar avisos de salud, festividades y tequios.</a:t>
            </a:r>
          </a:p>
          <a:p>
            <a:pPr algn="just"/>
            <a:r>
              <a:rPr lang="es-MX" b="1" dirty="0">
                <a:latin typeface="+mj-lt"/>
              </a:rPr>
              <a:t>En ciudades urbanas es mas usadas las TIC para servicios de plataformas como Didi y Uber.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0085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00">
        <p:wipe/>
      </p:transition>
    </mc:Choice>
    <mc:Fallback>
      <p:transition advClick="0" advTm="15000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37C65-B5B5-4C07-B87D-534FCCA09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273005"/>
            <a:ext cx="10515600" cy="1325563"/>
          </a:xfrm>
        </p:spPr>
        <p:txBody>
          <a:bodyPr/>
          <a:lstStyle/>
          <a:p>
            <a:r>
              <a:rPr lang="es-MX" b="0" i="0" dirty="0">
                <a:solidFill>
                  <a:srgbClr val="000000"/>
                </a:solidFill>
                <a:effectLst/>
                <a:latin typeface="Raleway" pitchFamily="2" charset="0"/>
              </a:rPr>
              <a:t> las TIC en la sociedad: para la obtención de información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45ECE-8526-4EDC-B85D-1ACE81459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74" y="1742615"/>
            <a:ext cx="5585297" cy="447362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MX" dirty="0"/>
              <a:t>Las TIC en la sociedad actual son importantes ya que nos permiten el acceso rápido a la información y varias plataformas por ejemplo Facebook , Instagram, Twitter estas plataformas ayudan a comunicarme con amigos, familiares, conocidos, etc. Nos ayuda a tomar decisiones y nos facilita la educación. </a:t>
            </a:r>
          </a:p>
          <a:p>
            <a:pPr algn="just"/>
            <a:r>
              <a:rPr lang="es-MX" dirty="0"/>
              <a:t>Las TIC nos benefician a todos por que gracias a ellas podemos hacer tramites sin necesidad de ir a las dependencias a que nos los den,  sino que ya por medio de la digitalización es mas rápido.  </a:t>
            </a:r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Elementos multimedia en línea 4" title="Un simulador te permitirá obtener licencia de conducir en México">
            <a:hlinkClick r:id="" action="ppaction://media"/>
            <a:extLst>
              <a:ext uri="{FF2B5EF4-FFF2-40B4-BE49-F238E27FC236}">
                <a16:creationId xmlns:a16="http://schemas.microsoft.com/office/drawing/2014/main" id="{85BF83EE-5A27-46D7-80E2-CBEF8986BF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382339" y="2073886"/>
            <a:ext cx="5193525" cy="293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5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83000">
        <p14:flash/>
      </p:transition>
    </mc:Choice>
    <mc:Fallback xmlns="">
      <p:transition spd="slow" advClick="0" advTm="8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ADB6782-9D0D-41CA-B2F0-350B26B14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91" y="6297"/>
            <a:ext cx="10894423" cy="66282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E09094A-522D-477B-B20B-9EE3DA4D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0" i="0" dirty="0">
                <a:solidFill>
                  <a:srgbClr val="000000"/>
                </a:solidFill>
                <a:effectLst/>
                <a:latin typeface="Raleway" pitchFamily="2" charset="0"/>
              </a:rPr>
              <a:t>las TIC en la sociedad: para la 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 generación de aprendizajes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A8CD7C-CBC4-4BB2-9085-4FE25444A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865"/>
            <a:ext cx="10515600" cy="4901111"/>
          </a:xfrm>
        </p:spPr>
        <p:txBody>
          <a:bodyPr>
            <a:normAutofit/>
          </a:bodyPr>
          <a:lstStyle/>
          <a:p>
            <a:r>
              <a:rPr lang="es-MX" sz="2400" dirty="0"/>
              <a:t>Las tic permiten que la información les lleguen a lugares mas lejanos y les ayuda ya que la información les puede llegar por medio de videos, cursos en línea y por medio de  libros digitales y esto facilitan la información y el aprendizaje.</a:t>
            </a:r>
          </a:p>
          <a:p>
            <a:r>
              <a:rPr lang="es-MX" sz="2400" dirty="0" err="1"/>
              <a:t>Tambien</a:t>
            </a:r>
            <a:r>
              <a:rPr lang="es-MX" sz="2400" dirty="0"/>
              <a:t>  las TIC hacen que sea mas fáciles de entender  ya que la información pude ser presentada como: videojuegos, apps ,videos y cursos en línea.</a:t>
            </a:r>
          </a:p>
          <a:p>
            <a:r>
              <a:rPr lang="es-MX" sz="2400" dirty="0"/>
              <a:t>Pues las TIC nos permiten aprender a nuestro ritmo en caso de no  entender  podemos ver videos las veces que sean necesarias para entenderlo mejor </a:t>
            </a:r>
          </a:p>
          <a:p>
            <a:r>
              <a:rPr lang="es-MX" sz="2400" dirty="0"/>
              <a:t>Las TIC nos ayudan a conectarnos con estudiantes para compartir documentos, para las dudas que tengamos al respecto del tema y para la tarea grupal.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29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67000">
        <p14:reveal/>
      </p:transition>
    </mc:Choice>
    <mc:Fallback xmlns="">
      <p:transition advClick="0" advTm="6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2F50777-BC90-4178-9B79-C75C2D4D4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716" y="108857"/>
            <a:ext cx="8963570" cy="664028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C9C03C-F302-476C-88AE-230C3297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000000"/>
                </a:solidFill>
                <a:latin typeface="Raleway" pitchFamily="2" charset="0"/>
              </a:rPr>
              <a:t>L</a:t>
            </a:r>
            <a:r>
              <a:rPr lang="es-MX" b="0" i="0" dirty="0">
                <a:solidFill>
                  <a:srgbClr val="000000"/>
                </a:solidFill>
                <a:effectLst/>
                <a:latin typeface="Raleway" pitchFamily="2" charset="0"/>
              </a:rPr>
              <a:t>as TIC en la sociedad: Para la solución de problemas y la participación social.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676649-1699-4796-BFCA-F767BB23F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03" y="1938837"/>
            <a:ext cx="10515600" cy="4810306"/>
          </a:xfrm>
        </p:spPr>
        <p:txBody>
          <a:bodyPr>
            <a:normAutofit/>
          </a:bodyPr>
          <a:lstStyle/>
          <a:p>
            <a:r>
              <a:rPr lang="es-MX" sz="2000" dirty="0"/>
              <a:t>Las TIC nos ayudan a resolver problemas por medio del teléfono por ejemplo: </a:t>
            </a:r>
          </a:p>
          <a:p>
            <a:pPr marL="0" indent="0">
              <a:buNone/>
            </a:pPr>
            <a:r>
              <a:rPr lang="es-MX" sz="2000" dirty="0"/>
              <a:t>Reportar fugas de agua </a:t>
            </a:r>
          </a:p>
          <a:p>
            <a:pPr marL="0" indent="0">
              <a:buNone/>
            </a:pPr>
            <a:r>
              <a:rPr lang="es-MX" sz="2000" dirty="0"/>
              <a:t>En Puebla (SOSAPACH)</a:t>
            </a:r>
          </a:p>
          <a:p>
            <a:pPr marL="0" indent="0">
              <a:buNone/>
            </a:pPr>
            <a:r>
              <a:rPr lang="es-MX" sz="2000" dirty="0"/>
              <a:t>Teléfono: 222 247 0115.</a:t>
            </a:r>
          </a:p>
          <a:p>
            <a:pPr marL="0" indent="0">
              <a:buNone/>
            </a:pPr>
            <a:r>
              <a:rPr lang="es-MX" sz="2000" dirty="0"/>
              <a:t>WhatsApp: Envía un mensaje al mismo número (222 247 0115).</a:t>
            </a:r>
          </a:p>
          <a:p>
            <a:pPr marL="0" indent="0">
              <a:buNone/>
            </a:pPr>
            <a:r>
              <a:rPr lang="es-MX" sz="2000" dirty="0"/>
              <a:t>Línea 072: Para reportes generales de servicios municipales, incluyendo fugas. </a:t>
            </a:r>
          </a:p>
          <a:p>
            <a:r>
              <a:rPr lang="es-MX" sz="2000" dirty="0"/>
              <a:t>usar apps para  reportar los baches que haya en nuestra colonia.</a:t>
            </a:r>
          </a:p>
          <a:p>
            <a:r>
              <a:rPr lang="es-MX" sz="2000" dirty="0"/>
              <a:t>Por medio de las TIC la sociedad se informa  sobre temas de interés social y  ayudan al ciudadano a </a:t>
            </a:r>
            <a:r>
              <a:rPr lang="es-MX" sz="2000" dirty="0" err="1"/>
              <a:t>oir</a:t>
            </a:r>
            <a:r>
              <a:rPr lang="es-MX" sz="2000" dirty="0"/>
              <a:t> su voz para que no se sienta solo.</a:t>
            </a:r>
            <a:endParaRPr lang="es-MX" dirty="0"/>
          </a:p>
          <a:p>
            <a:r>
              <a:rPr lang="es-MX" sz="2000" dirty="0"/>
              <a:t>Otro Ejemplo:</a:t>
            </a:r>
          </a:p>
          <a:p>
            <a:pPr marL="0" indent="0">
              <a:buNone/>
            </a:pPr>
            <a:r>
              <a:rPr lang="es-MX" sz="2000" dirty="0"/>
              <a:t>Reporte de fallas eléctricas 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https://www.youtube.com/shorts/u8ophJLWDLE?feature=share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71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 advClick="0" advTm="21000">
        <p15:prstTrans prst="fallOver"/>
      </p:transition>
    </mc:Choice>
    <mc:Fallback xmlns="">
      <p:transition spd="med" advClick="0" advTm="2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818351E-5EF0-40FC-B086-18DA280EA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84908"/>
            <a:ext cx="10515601" cy="677309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C70F349-8972-47DB-BADB-E6C75BF6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 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03FB5-9DA5-4576-97D1-D8F6967C9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738" y="1690688"/>
            <a:ext cx="10087062" cy="4626222"/>
          </a:xfrm>
        </p:spPr>
        <p:txBody>
          <a:bodyPr>
            <a:normAutofit fontScale="92500" lnSpcReduction="10000"/>
          </a:bodyPr>
          <a:lstStyle/>
          <a:p>
            <a:endParaRPr lang="en-US" sz="2000" b="1" dirty="0">
              <a:hlinkClick r:id="rId3"/>
            </a:endParaRPr>
          </a:p>
          <a:p>
            <a:pPr marL="0" indent="0">
              <a:buNone/>
            </a:pPr>
            <a:endParaRPr lang="en-US" sz="2000" b="1" dirty="0">
              <a:hlinkClick r:id="rId3"/>
            </a:endParaRPr>
          </a:p>
          <a:p>
            <a:pPr marL="0" indent="0">
              <a:buNone/>
            </a:pPr>
            <a:r>
              <a:rPr lang="en-US" sz="2000" b="1" dirty="0">
                <a:hlinkClick r:id="rId3"/>
              </a:rPr>
              <a:t>https://iappuebla.edu.mx/gobierno-abierto-perfil-tecnologico/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err="1"/>
              <a:t>Gobierno</a:t>
            </a:r>
            <a:r>
              <a:rPr lang="en-US" sz="2000" b="1" dirty="0"/>
              <a:t> de Puebla. (</a:t>
            </a:r>
            <a:r>
              <a:rPr lang="en-US" sz="2000" b="1" dirty="0" err="1"/>
              <a:t>s.f.</a:t>
            </a:r>
            <a:r>
              <a:rPr lang="en-US" sz="2000" b="1" dirty="0"/>
              <a:t>) </a:t>
            </a:r>
            <a:r>
              <a:rPr lang="en-US" sz="2000" b="1" dirty="0" err="1"/>
              <a:t>Intereses</a:t>
            </a:r>
            <a:r>
              <a:rPr lang="en-US" sz="2000" b="1" dirty="0"/>
              <a:t>[</a:t>
            </a:r>
            <a:r>
              <a:rPr lang="en-US" sz="2000" b="1" dirty="0" err="1"/>
              <a:t>pagina</a:t>
            </a:r>
            <a:r>
              <a:rPr lang="en-US" sz="2000" b="1" dirty="0"/>
              <a:t> de Facebook]</a:t>
            </a:r>
          </a:p>
          <a:p>
            <a:pPr marL="0" indent="0">
              <a:buNone/>
            </a:pPr>
            <a:r>
              <a:rPr lang="en-US" sz="2000" b="1" dirty="0">
                <a:hlinkClick r:id="rId4"/>
              </a:rPr>
              <a:t>https://www.facebook.com/profile/100069013336344/search/?q=intereses</a:t>
            </a:r>
            <a:endParaRPr lang="en-US" sz="2000" b="1" dirty="0"/>
          </a:p>
          <a:p>
            <a:pPr marL="0" indent="0">
              <a:buNone/>
            </a:pPr>
            <a:endParaRPr lang="en-US" sz="2000" dirty="0">
              <a:hlinkClick r:id="rId5"/>
            </a:endParaRPr>
          </a:p>
          <a:p>
            <a:pPr marL="0" indent="0">
              <a:buNone/>
            </a:pPr>
            <a:endParaRPr lang="en-US" sz="2000" dirty="0">
              <a:hlinkClick r:id="rId5"/>
            </a:endParaRPr>
          </a:p>
          <a:p>
            <a:pPr marL="0" indent="0">
              <a:buNone/>
            </a:pPr>
            <a:endParaRPr lang="en-US" sz="2000" dirty="0">
              <a:hlinkClick r:id="rId5"/>
            </a:endParaRPr>
          </a:p>
          <a:p>
            <a:pPr marL="0" indent="0">
              <a:buNone/>
            </a:pPr>
            <a:r>
              <a:rPr lang="en-US" sz="2100" b="1" dirty="0"/>
              <a:t>Sistema </a:t>
            </a:r>
            <a:r>
              <a:rPr lang="en-US" sz="2100" b="1" dirty="0" err="1"/>
              <a:t>Operador</a:t>
            </a:r>
            <a:r>
              <a:rPr lang="en-US" sz="2100" b="1" dirty="0"/>
              <a:t> de Agua Potable y </a:t>
            </a:r>
            <a:r>
              <a:rPr lang="en-US" sz="2100" b="1" dirty="0" err="1"/>
              <a:t>Alcantarillado</a:t>
            </a:r>
            <a:r>
              <a:rPr lang="en-US" sz="2100" b="1" dirty="0"/>
              <a:t> de Puebla. (</a:t>
            </a:r>
            <a:r>
              <a:rPr lang="en-US" sz="2100" b="1" dirty="0" err="1"/>
              <a:t>s.f.</a:t>
            </a:r>
            <a:r>
              <a:rPr lang="en-US" sz="2100" b="1" dirty="0"/>
              <a:t>).</a:t>
            </a:r>
            <a:r>
              <a:rPr lang="en-US" sz="2100" b="1" i="1" dirty="0"/>
              <a:t>SOSAPAC</a:t>
            </a:r>
            <a:r>
              <a:rPr lang="en-US" sz="2100" b="1" dirty="0"/>
              <a:t>. </a:t>
            </a:r>
            <a:r>
              <a:rPr lang="en-US" sz="2100" b="1" dirty="0">
                <a:hlinkClick r:id="rId6"/>
              </a:rPr>
              <a:t>https://sosapac.gob.mx/</a:t>
            </a:r>
            <a:endParaRPr lang="en-US" sz="2100" b="1" dirty="0"/>
          </a:p>
          <a:p>
            <a:pPr marL="0" indent="0">
              <a:buNone/>
            </a:pPr>
            <a:r>
              <a:rPr lang="en-US" sz="2100" b="1" dirty="0" err="1"/>
              <a:t>Comision</a:t>
            </a:r>
            <a:r>
              <a:rPr lang="en-US" sz="2100" b="1" dirty="0"/>
              <a:t> Federal de </a:t>
            </a:r>
            <a:r>
              <a:rPr lang="en-US" sz="2100" b="1" dirty="0" err="1"/>
              <a:t>Electricidad</a:t>
            </a:r>
            <a:r>
              <a:rPr lang="en-US" sz="2100" b="1" dirty="0"/>
              <a:t>.(</a:t>
            </a:r>
            <a:r>
              <a:rPr lang="en-US" sz="2100" b="1" dirty="0" err="1"/>
              <a:t>s.f.</a:t>
            </a:r>
            <a:r>
              <a:rPr lang="en-US" sz="2100" b="1" dirty="0"/>
              <a:t>).</a:t>
            </a:r>
            <a:r>
              <a:rPr lang="en-US" sz="2100" b="1" i="1" dirty="0" err="1"/>
              <a:t>Gobierno</a:t>
            </a:r>
            <a:r>
              <a:rPr lang="en-US" sz="2100" b="1" i="1" dirty="0"/>
              <a:t> de Mexico CFE</a:t>
            </a:r>
            <a:r>
              <a:rPr lang="en-US" sz="2100" b="1" dirty="0"/>
              <a:t>.</a:t>
            </a:r>
          </a:p>
          <a:p>
            <a:pPr marL="0" indent="0">
              <a:buNone/>
            </a:pPr>
            <a:r>
              <a:rPr lang="en-US" sz="2100" b="1" dirty="0">
                <a:hlinkClick r:id="rId7"/>
              </a:rPr>
              <a:t>https://www.cfe.gob.mx/Pages/default.aspx</a:t>
            </a:r>
            <a:endParaRPr lang="en-US" sz="21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EE32DD-628A-45D3-9613-09B1EEF6F9D3}"/>
              </a:ext>
            </a:extLst>
          </p:cNvPr>
          <p:cNvSpPr txBox="1"/>
          <p:nvPr/>
        </p:nvSpPr>
        <p:spPr>
          <a:xfrm>
            <a:off x="1266738" y="1734577"/>
            <a:ext cx="961006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900" b="1" dirty="0"/>
              <a:t>IAP PUEBLA (s.f.) </a:t>
            </a:r>
            <a:r>
              <a:rPr lang="es-MX" sz="1900" b="1" i="1" dirty="0"/>
              <a:t>Gobierno abierto y perfil tecnológico: una aproximación a la experiencia del </a:t>
            </a:r>
          </a:p>
          <a:p>
            <a:r>
              <a:rPr lang="es-MX" sz="1900" b="1" i="1" dirty="0"/>
              <a:t>Municipio de Puebla. Instituto de </a:t>
            </a:r>
            <a:r>
              <a:rPr lang="es-MX" sz="1900" b="1" i="1" dirty="0" err="1"/>
              <a:t>Administracion</a:t>
            </a:r>
            <a:r>
              <a:rPr lang="es-MX" sz="1900" b="1" i="1" dirty="0"/>
              <a:t> Publica del Estado de Puebla, A.C.</a:t>
            </a:r>
            <a:endParaRPr lang="en-US" sz="1900" b="1" i="1" dirty="0"/>
          </a:p>
        </p:txBody>
      </p:sp>
    </p:spTree>
    <p:extLst>
      <p:ext uri="{BB962C8B-B14F-4D97-AF65-F5344CB8AC3E}">
        <p14:creationId xmlns:p14="http://schemas.microsoft.com/office/powerpoint/2010/main" val="219243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64000">
        <p159:morph option="byObject"/>
      </p:transition>
    </mc:Choice>
    <mc:Fallback xmlns="">
      <p:transition advClick="0" advTm="6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</TotalTime>
  <Words>809</Words>
  <Application>Microsoft Office PowerPoint</Application>
  <PresentationFormat>Panorámica</PresentationFormat>
  <Paragraphs>54</Paragraphs>
  <Slides>8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Raleway</vt:lpstr>
      <vt:lpstr>Tema de Office</vt:lpstr>
      <vt:lpstr>en la sociedad</vt:lpstr>
      <vt:lpstr>Introducción </vt:lpstr>
      <vt:lpstr>Como se usan las TIC en mi comunidad</vt:lpstr>
      <vt:lpstr>Como se usan las TIC en una comunidad diferente a la mía</vt:lpstr>
      <vt:lpstr> las TIC en la sociedad: para la obtención de información</vt:lpstr>
      <vt:lpstr>las TIC en la sociedad: para la  generación de aprendizajes</vt:lpstr>
      <vt:lpstr>Las TIC en la sociedad: Para la solución de problemas y la participación social.</vt:lpstr>
      <vt:lpstr>Referencias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Araceli perez</dc:creator>
  <cp:lastModifiedBy>Araceli perez</cp:lastModifiedBy>
  <cp:revision>48</cp:revision>
  <dcterms:created xsi:type="dcterms:W3CDTF">2025-12-18T06:57:55Z</dcterms:created>
  <dcterms:modified xsi:type="dcterms:W3CDTF">2025-12-21T09:00:47Z</dcterms:modified>
</cp:coreProperties>
</file>