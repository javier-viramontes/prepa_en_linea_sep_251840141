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03" d="100"/>
          <a:sy n="103" d="100"/>
        </p:scale>
        <p:origin x="120" y="3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transition spd="slow" advClick="0" advTm="8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transition spd="slow" advClick="0" advTm="8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transition spd="slow" advClick="0" advTm="800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transition spd="slow" advClick="0" advTm="8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transition spd="slow" advClick="0" advTm="800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transition spd="slow" advClick="0" advTm="8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transition spd="slow" advClick="0" advTm="8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transition spd="slow" advClick="0" advTm="800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12/6/2025</a:t>
            </a:fld>
            <a:endParaRPr lang="en-US" dirty="0"/>
          </a:p>
        </p:txBody>
      </p:sp>
    </p:spTree>
  </p:cSld>
  <p:clrMapOvr>
    <a:masterClrMapping/>
  </p:clrMapOvr>
  <p:transition spd="slow" advClick="0" advTm="800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transition spd="slow" advClick="0" advTm="8000">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transition spd="slow" advClick="0" advTm="8000">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transition spd="slow" advClick="0" advTm="800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transition spd="slow" advClick="0" advTm="8000">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transition spd="slow" advClick="0" advTm="8000">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transition spd="slow" advClick="0" advTm="8000">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transition spd="slow" advClick="0" advTm="800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12/6/2025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ransition spd="slow" advClick="0" advTm="8000">
    <p:fade/>
  </p:transition>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youonlyliveonceadriana.blogspot.com/2018/11/infografia.html" TargetMode="External"/><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DNhGlBlBSBQ" TargetMode="External"/><Relationship Id="rId2" Type="http://schemas.openxmlformats.org/officeDocument/2006/relationships/hyperlink" Target="https://www.youtube.com/watch?v=fb506ebswb8"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613868-7036-4FB1-8C9A-6028749C6826}"/>
              </a:ext>
            </a:extLst>
          </p:cNvPr>
          <p:cNvSpPr>
            <a:spLocks noGrp="1"/>
          </p:cNvSpPr>
          <p:nvPr>
            <p:ph type="ctrTitle"/>
          </p:nvPr>
        </p:nvSpPr>
        <p:spPr/>
        <p:txBody>
          <a:bodyPr/>
          <a:lstStyle/>
          <a:p>
            <a:pPr algn="ctr"/>
            <a:r>
              <a:rPr lang="es-MX" dirty="0">
                <a:solidFill>
                  <a:schemeClr val="tx1"/>
                </a:solidFill>
              </a:rPr>
              <a:t>Navegar por internet de forma segura</a:t>
            </a:r>
            <a:endParaRPr lang="en-US" dirty="0">
              <a:solidFill>
                <a:schemeClr val="tx1"/>
              </a:solidFill>
            </a:endParaRPr>
          </a:p>
        </p:txBody>
      </p:sp>
      <p:sp>
        <p:nvSpPr>
          <p:cNvPr id="3" name="Subtítulo 2">
            <a:extLst>
              <a:ext uri="{FF2B5EF4-FFF2-40B4-BE49-F238E27FC236}">
                <a16:creationId xmlns:a16="http://schemas.microsoft.com/office/drawing/2014/main" id="{724B4ED8-5E29-45A8-B589-52DCD3881F3A}"/>
              </a:ext>
            </a:extLst>
          </p:cNvPr>
          <p:cNvSpPr>
            <a:spLocks noGrp="1"/>
          </p:cNvSpPr>
          <p:nvPr>
            <p:ph type="subTitle" idx="1"/>
          </p:nvPr>
        </p:nvSpPr>
        <p:spPr/>
        <p:txBody>
          <a:bodyPr/>
          <a:lstStyle/>
          <a:p>
            <a:pPr algn="ctr"/>
            <a:r>
              <a:rPr lang="es-MX" sz="3200" b="1" i="1" dirty="0">
                <a:solidFill>
                  <a:schemeClr val="accent1">
                    <a:lumMod val="75000"/>
                  </a:schemeClr>
                </a:solidFill>
              </a:rPr>
              <a:t>“Seguridad Digital”</a:t>
            </a:r>
            <a:endParaRPr lang="en-US" b="1" i="1" dirty="0">
              <a:solidFill>
                <a:schemeClr val="accent1">
                  <a:lumMod val="75000"/>
                </a:schemeClr>
              </a:solidFill>
            </a:endParaRPr>
          </a:p>
        </p:txBody>
      </p:sp>
      <p:sp>
        <p:nvSpPr>
          <p:cNvPr id="4" name="CuadroTexto 3">
            <a:extLst>
              <a:ext uri="{FF2B5EF4-FFF2-40B4-BE49-F238E27FC236}">
                <a16:creationId xmlns:a16="http://schemas.microsoft.com/office/drawing/2014/main" id="{F464A795-DE7C-4EAC-81A9-7135F04F2082}"/>
              </a:ext>
            </a:extLst>
          </p:cNvPr>
          <p:cNvSpPr txBox="1"/>
          <p:nvPr/>
        </p:nvSpPr>
        <p:spPr>
          <a:xfrm>
            <a:off x="2266120" y="4877387"/>
            <a:ext cx="6090701" cy="646331"/>
          </a:xfrm>
          <a:prstGeom prst="rect">
            <a:avLst/>
          </a:prstGeom>
          <a:noFill/>
        </p:spPr>
        <p:txBody>
          <a:bodyPr wrap="square" rtlCol="0">
            <a:spAutoFit/>
          </a:bodyPr>
          <a:lstStyle/>
          <a:p>
            <a:r>
              <a:rPr lang="es-MX" dirty="0"/>
              <a:t>Presenta: </a:t>
            </a:r>
            <a:r>
              <a:rPr lang="es-MX" dirty="0" err="1"/>
              <a:t>Analia</a:t>
            </a:r>
            <a:r>
              <a:rPr lang="es-MX" dirty="0"/>
              <a:t> Perez Perez</a:t>
            </a:r>
          </a:p>
          <a:p>
            <a:r>
              <a:rPr lang="es-MX" dirty="0"/>
              <a:t>Grupo:</a:t>
            </a:r>
            <a:r>
              <a:rPr lang="en-US" b="1" dirty="0">
                <a:solidFill>
                  <a:srgbClr val="000000"/>
                </a:solidFill>
                <a:latin typeface="Raleway" pitchFamily="2" charset="0"/>
              </a:rPr>
              <a:t>M</a:t>
            </a:r>
            <a:r>
              <a:rPr lang="en-US" b="1" dirty="0">
                <a:solidFill>
                  <a:srgbClr val="000000"/>
                </a:solidFill>
                <a:effectLst/>
                <a:latin typeface="Raleway" pitchFamily="2" charset="0"/>
              </a:rPr>
              <a:t>1S1AI2</a:t>
            </a:r>
            <a:endParaRPr lang="en-US" b="1" dirty="0"/>
          </a:p>
        </p:txBody>
      </p:sp>
    </p:spTree>
    <p:extLst>
      <p:ext uri="{BB962C8B-B14F-4D97-AF65-F5344CB8AC3E}">
        <p14:creationId xmlns:p14="http://schemas.microsoft.com/office/powerpoint/2010/main" val="625621951"/>
      </p:ext>
    </p:extLst>
  </p:cSld>
  <p:clrMapOvr>
    <a:masterClrMapping/>
  </p:clrMapOvr>
  <p:transition spd="slow" advClick="0" advTm="80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F6220B-EF1E-4F6E-90CC-0B984E29DCB0}"/>
              </a:ext>
            </a:extLst>
          </p:cNvPr>
          <p:cNvSpPr>
            <a:spLocks noGrp="1"/>
          </p:cNvSpPr>
          <p:nvPr>
            <p:ph type="title"/>
          </p:nvPr>
        </p:nvSpPr>
        <p:spPr/>
        <p:txBody>
          <a:bodyPr/>
          <a:lstStyle/>
          <a:p>
            <a:pPr algn="ctr"/>
            <a:r>
              <a:rPr lang="es-MX" dirty="0"/>
              <a:t>Introducción  </a:t>
            </a:r>
            <a:endParaRPr lang="en-US" dirty="0"/>
          </a:p>
        </p:txBody>
      </p:sp>
      <p:sp>
        <p:nvSpPr>
          <p:cNvPr id="3" name="Marcador de contenido 2">
            <a:extLst>
              <a:ext uri="{FF2B5EF4-FFF2-40B4-BE49-F238E27FC236}">
                <a16:creationId xmlns:a16="http://schemas.microsoft.com/office/drawing/2014/main" id="{8EF9CF63-59E5-4493-9709-2E06FB30E1DE}"/>
              </a:ext>
            </a:extLst>
          </p:cNvPr>
          <p:cNvSpPr>
            <a:spLocks noGrp="1"/>
          </p:cNvSpPr>
          <p:nvPr>
            <p:ph idx="1"/>
          </p:nvPr>
        </p:nvSpPr>
        <p:spPr>
          <a:xfrm>
            <a:off x="677334" y="1270000"/>
            <a:ext cx="8596668" cy="3880773"/>
          </a:xfrm>
        </p:spPr>
        <p:txBody>
          <a:bodyPr/>
          <a:lstStyle/>
          <a:p>
            <a:pPr algn="just"/>
            <a:r>
              <a:rPr lang="es-MX" dirty="0"/>
              <a:t>En los últimos años hemos visto un crecimiento acelerado del mundo digital, el internet, las plataformas, las redes sociales etc. se han convertido en una herramienta indispensable para nuestra vida diaria: escuela, trabajo, amigos, entre otros. Pero debemos notar que así como nos ha traído beneficios también nos ha traído riesgos, por eso es muy importante saber usar el internet de manera segura y proteger nuestros datos personales para evitar situaciones como el sexting, ciberbullying, ciberdelincuencia, etc.</a:t>
            </a:r>
            <a:endParaRPr lang="en-US" dirty="0"/>
          </a:p>
        </p:txBody>
      </p:sp>
      <p:pic>
        <p:nvPicPr>
          <p:cNvPr id="1026" name="Picture 2">
            <a:extLst>
              <a:ext uri="{FF2B5EF4-FFF2-40B4-BE49-F238E27FC236}">
                <a16:creationId xmlns:a16="http://schemas.microsoft.com/office/drawing/2014/main" id="{9B5DB13F-22EE-4220-B8E5-892BE6EE94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912" y="3377682"/>
            <a:ext cx="5752419" cy="3225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2521347"/>
      </p:ext>
    </p:extLst>
  </p:cSld>
  <p:clrMapOvr>
    <a:masterClrMapping/>
  </p:clrMapOvr>
  <p:transition spd="slow" advClick="0" advTm="80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Qué es la huella digital? ¿Vamos dejando datos al navegar por Internet?">
            <a:extLst>
              <a:ext uri="{FF2B5EF4-FFF2-40B4-BE49-F238E27FC236}">
                <a16:creationId xmlns:a16="http://schemas.microsoft.com/office/drawing/2014/main" id="{E549E470-72C4-405B-9C3E-C48C1E400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064" y="1960869"/>
            <a:ext cx="7586943" cy="3880773"/>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BFA791B-785C-487A-9DC0-4CAE2E8FEF8A}"/>
              </a:ext>
            </a:extLst>
          </p:cNvPr>
          <p:cNvSpPr>
            <a:spLocks noGrp="1"/>
          </p:cNvSpPr>
          <p:nvPr>
            <p:ph type="title"/>
          </p:nvPr>
        </p:nvSpPr>
        <p:spPr>
          <a:xfrm>
            <a:off x="677334" y="89428"/>
            <a:ext cx="8596668" cy="1320800"/>
          </a:xfrm>
        </p:spPr>
        <p:txBody>
          <a:bodyPr/>
          <a:lstStyle/>
          <a:p>
            <a:r>
              <a:rPr lang="es-MX" dirty="0"/>
              <a:t>Tema 1: La huella digital</a:t>
            </a:r>
            <a:endParaRPr lang="en-US" dirty="0"/>
          </a:p>
        </p:txBody>
      </p:sp>
      <p:sp>
        <p:nvSpPr>
          <p:cNvPr id="3" name="Marcador de contenido 2">
            <a:extLst>
              <a:ext uri="{FF2B5EF4-FFF2-40B4-BE49-F238E27FC236}">
                <a16:creationId xmlns:a16="http://schemas.microsoft.com/office/drawing/2014/main" id="{14CF9519-87CB-44F1-BBCE-FEF89D9E5FBA}"/>
              </a:ext>
            </a:extLst>
          </p:cNvPr>
          <p:cNvSpPr>
            <a:spLocks noGrp="1"/>
          </p:cNvSpPr>
          <p:nvPr>
            <p:ph idx="1"/>
          </p:nvPr>
        </p:nvSpPr>
        <p:spPr>
          <a:xfrm>
            <a:off x="391087" y="887649"/>
            <a:ext cx="8596668" cy="3880773"/>
          </a:xfrm>
        </p:spPr>
        <p:txBody>
          <a:bodyPr/>
          <a:lstStyle/>
          <a:p>
            <a:pPr algn="just"/>
            <a:r>
              <a:rPr lang="es-MX" sz="1820" dirty="0"/>
              <a:t>La huella digital es la marca o rastro( Historial) que dejamos al navegar por internet, es decir que  se queda un registro de cada sitio  que visitamos, de cada aplicación que abrimos, de los videos que reproducimos, de los recurso que descargamos etc. . Incluso  nuestras fotos,  comentarios,  publicaciones, todo queda registrado automáticamente y puede afectar nuestra privacidad</a:t>
            </a:r>
            <a:r>
              <a:rPr lang="es-MX" dirty="0"/>
              <a:t>. </a:t>
            </a:r>
            <a:endParaRPr lang="en-US" dirty="0"/>
          </a:p>
        </p:txBody>
      </p:sp>
      <p:sp>
        <p:nvSpPr>
          <p:cNvPr id="7" name="CuadroTexto 6">
            <a:extLst>
              <a:ext uri="{FF2B5EF4-FFF2-40B4-BE49-F238E27FC236}">
                <a16:creationId xmlns:a16="http://schemas.microsoft.com/office/drawing/2014/main" id="{1CB56249-718D-44B2-A9E7-D58859D7810B}"/>
              </a:ext>
            </a:extLst>
          </p:cNvPr>
          <p:cNvSpPr txBox="1"/>
          <p:nvPr/>
        </p:nvSpPr>
        <p:spPr>
          <a:xfrm>
            <a:off x="677333" y="5291244"/>
            <a:ext cx="8840377" cy="923330"/>
          </a:xfrm>
          <a:prstGeom prst="rect">
            <a:avLst/>
          </a:prstGeom>
          <a:noFill/>
        </p:spPr>
        <p:txBody>
          <a:bodyPr wrap="square">
            <a:spAutoFit/>
          </a:bodyPr>
          <a:lstStyle/>
          <a:p>
            <a:pPr algn="just"/>
            <a:r>
              <a:rPr lang="es-MX" dirty="0"/>
              <a:t>*Así, por ejemplo, dejamos nuestra huella digital cuando utilizamos nuestro teléfono móvil, pagamos con tarjeta de crédito, utilizamos el transporte público con nuestra tarjeta de transporte o cuando participamos en las redes sociales.</a:t>
            </a:r>
            <a:endParaRPr lang="en-US" dirty="0"/>
          </a:p>
        </p:txBody>
      </p:sp>
    </p:spTree>
    <p:extLst>
      <p:ext uri="{BB962C8B-B14F-4D97-AF65-F5344CB8AC3E}">
        <p14:creationId xmlns:p14="http://schemas.microsoft.com/office/powerpoint/2010/main" val="257927966"/>
      </p:ext>
    </p:extLst>
  </p:cSld>
  <p:clrMapOvr>
    <a:masterClrMapping/>
  </p:clrMapOvr>
  <p:transition spd="slow" advClick="0" advTm="8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wheel(1)">
                                      <p:cBhvr>
                                        <p:cTn id="7" dur="2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63544B6-21C7-44D8-BDA4-7C695B1BDCAE}"/>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78423" y="3741575"/>
            <a:ext cx="4387232" cy="2769115"/>
          </a:xfrm>
          <a:prstGeom prst="rect">
            <a:avLst/>
          </a:prstGeom>
        </p:spPr>
      </p:pic>
      <p:sp>
        <p:nvSpPr>
          <p:cNvPr id="2" name="Título 1">
            <a:extLst>
              <a:ext uri="{FF2B5EF4-FFF2-40B4-BE49-F238E27FC236}">
                <a16:creationId xmlns:a16="http://schemas.microsoft.com/office/drawing/2014/main" id="{579F0EEA-04C3-4F25-BEBA-F9CC33693D8A}"/>
              </a:ext>
            </a:extLst>
          </p:cNvPr>
          <p:cNvSpPr>
            <a:spLocks noGrp="1"/>
          </p:cNvSpPr>
          <p:nvPr>
            <p:ph type="title"/>
          </p:nvPr>
        </p:nvSpPr>
        <p:spPr>
          <a:xfrm>
            <a:off x="637577" y="364005"/>
            <a:ext cx="8596668" cy="1320800"/>
          </a:xfrm>
        </p:spPr>
        <p:txBody>
          <a:bodyPr/>
          <a:lstStyle/>
          <a:p>
            <a:r>
              <a:rPr lang="es-MX" dirty="0"/>
              <a:t>Tema 2 : La Privacidad Digital</a:t>
            </a:r>
            <a:endParaRPr lang="en-US" dirty="0"/>
          </a:p>
        </p:txBody>
      </p:sp>
      <p:sp>
        <p:nvSpPr>
          <p:cNvPr id="3" name="Marcador de contenido 2">
            <a:extLst>
              <a:ext uri="{FF2B5EF4-FFF2-40B4-BE49-F238E27FC236}">
                <a16:creationId xmlns:a16="http://schemas.microsoft.com/office/drawing/2014/main" id="{04606B55-129B-4CB9-8C95-681A1CF47457}"/>
              </a:ext>
            </a:extLst>
          </p:cNvPr>
          <p:cNvSpPr>
            <a:spLocks noGrp="1"/>
          </p:cNvSpPr>
          <p:nvPr>
            <p:ph idx="1"/>
          </p:nvPr>
        </p:nvSpPr>
        <p:spPr>
          <a:xfrm>
            <a:off x="372188" y="1182579"/>
            <a:ext cx="8596668" cy="3880773"/>
          </a:xfrm>
        </p:spPr>
        <p:txBody>
          <a:bodyPr/>
          <a:lstStyle/>
          <a:p>
            <a:pPr algn="just"/>
            <a:r>
              <a:rPr lang="es-MX" dirty="0"/>
              <a:t>Cuando usamos las redes sociales, nos registramos en algún servicio y al publicar información estamos dejando nuestra huella digital y cualquier persona en la red tiene acceso a ella a menos que configuremos nuestra privacidad y seguridad esto lo podemos lograr siguiendo las siguientes instrucciones:</a:t>
            </a:r>
          </a:p>
          <a:p>
            <a:pPr algn="just"/>
            <a:r>
              <a:rPr lang="es-MX" dirty="0"/>
              <a:t> 1.navegar con precaución (configurar correctamente nuestro perfil, tener cuidado con lo que publicamos y no publicar información de los demás)</a:t>
            </a:r>
          </a:p>
          <a:p>
            <a:pPr algn="just"/>
            <a:r>
              <a:rPr lang="es-MX" dirty="0"/>
              <a:t>2.Evitar sitios web desconocidos y que sean riesgosos.</a:t>
            </a:r>
            <a:endParaRPr lang="en-US" dirty="0"/>
          </a:p>
        </p:txBody>
      </p:sp>
      <p:sp>
        <p:nvSpPr>
          <p:cNvPr id="6" name="CuadroTexto 5">
            <a:extLst>
              <a:ext uri="{FF2B5EF4-FFF2-40B4-BE49-F238E27FC236}">
                <a16:creationId xmlns:a16="http://schemas.microsoft.com/office/drawing/2014/main" id="{788B3925-29E3-41DC-AB95-A7FDD0695E0B}"/>
              </a:ext>
            </a:extLst>
          </p:cNvPr>
          <p:cNvSpPr txBox="1"/>
          <p:nvPr/>
        </p:nvSpPr>
        <p:spPr>
          <a:xfrm>
            <a:off x="1109538" y="6488668"/>
            <a:ext cx="2514600" cy="369332"/>
          </a:xfrm>
          <a:prstGeom prst="rect">
            <a:avLst/>
          </a:prstGeom>
          <a:noFill/>
        </p:spPr>
        <p:txBody>
          <a:bodyPr wrap="square" rtlCol="0">
            <a:spAutoFit/>
          </a:bodyPr>
          <a:lstStyle/>
          <a:p>
            <a:r>
              <a:rPr lang="en-US" sz="900" dirty="0" err="1">
                <a:hlinkClick r:id="rId3" tooltip="https://youonlyliveonceadriana.blogspot.com/2018/11/infografia.html"/>
              </a:rPr>
              <a:t>Esta</a:t>
            </a:r>
            <a:r>
              <a:rPr lang="en-US" sz="900" dirty="0">
                <a:hlinkClick r:id="rId3" tooltip="https://youonlyliveonceadriana.blogspot.com/2018/11/infografia.html"/>
              </a:rPr>
              <a:t> </a:t>
            </a:r>
            <a:r>
              <a:rPr lang="en-US" sz="900" dirty="0" err="1">
                <a:hlinkClick r:id="rId3" tooltip="https://youonlyliveonceadriana.blogspot.com/2018/11/infografia.html"/>
              </a:rPr>
              <a:t>foto</a:t>
            </a:r>
            <a:r>
              <a:rPr lang="en-US" sz="900" dirty="0"/>
              <a:t> de Autor </a:t>
            </a:r>
            <a:r>
              <a:rPr lang="en-US" sz="900" dirty="0" err="1"/>
              <a:t>desconocido</a:t>
            </a:r>
            <a:r>
              <a:rPr lang="en-US" sz="900" dirty="0"/>
              <a:t> </a:t>
            </a:r>
            <a:r>
              <a:rPr lang="en-US" sz="900" dirty="0" err="1"/>
              <a:t>está</a:t>
            </a:r>
            <a:r>
              <a:rPr lang="en-US" sz="900" dirty="0"/>
              <a:t> bajo </a:t>
            </a:r>
            <a:r>
              <a:rPr lang="en-US" sz="900" dirty="0" err="1"/>
              <a:t>licencia</a:t>
            </a:r>
            <a:r>
              <a:rPr lang="en-US" sz="900" dirty="0"/>
              <a:t> </a:t>
            </a:r>
            <a:r>
              <a:rPr lang="en-US" sz="900" dirty="0">
                <a:hlinkClick r:id="rId4" tooltip="https://creativecommons.org/licenses/by-sa/3.0/"/>
              </a:rPr>
              <a:t>CC BY-SA</a:t>
            </a:r>
            <a:endParaRPr lang="en-US" sz="900" dirty="0"/>
          </a:p>
        </p:txBody>
      </p:sp>
    </p:spTree>
    <p:extLst>
      <p:ext uri="{BB962C8B-B14F-4D97-AF65-F5344CB8AC3E}">
        <p14:creationId xmlns:p14="http://schemas.microsoft.com/office/powerpoint/2010/main" val="510166423"/>
      </p:ext>
    </p:extLst>
  </p:cSld>
  <p:clrMapOvr>
    <a:masterClrMapping/>
  </p:clrMapOvr>
  <p:transition spd="slow" advClick="0" advTm="80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EA9703-D4D4-44D7-B33F-85DD4711367D}"/>
              </a:ext>
            </a:extLst>
          </p:cNvPr>
          <p:cNvSpPr>
            <a:spLocks noGrp="1"/>
          </p:cNvSpPr>
          <p:nvPr>
            <p:ph type="title"/>
          </p:nvPr>
        </p:nvSpPr>
        <p:spPr>
          <a:xfrm>
            <a:off x="589870" y="251791"/>
            <a:ext cx="8596668" cy="1320800"/>
          </a:xfrm>
        </p:spPr>
        <p:txBody>
          <a:bodyPr/>
          <a:lstStyle/>
          <a:p>
            <a:r>
              <a:rPr lang="es-MX" dirty="0"/>
              <a:t>Tema 3: la Prevención del Ciberbullying y del Sexting</a:t>
            </a:r>
            <a:endParaRPr lang="en-US" dirty="0"/>
          </a:p>
        </p:txBody>
      </p:sp>
      <p:sp>
        <p:nvSpPr>
          <p:cNvPr id="3" name="Marcador de contenido 2">
            <a:extLst>
              <a:ext uri="{FF2B5EF4-FFF2-40B4-BE49-F238E27FC236}">
                <a16:creationId xmlns:a16="http://schemas.microsoft.com/office/drawing/2014/main" id="{6ABA7CD9-7AB4-4E8D-B786-1A74028808EA}"/>
              </a:ext>
            </a:extLst>
          </p:cNvPr>
          <p:cNvSpPr>
            <a:spLocks noGrp="1"/>
          </p:cNvSpPr>
          <p:nvPr>
            <p:ph idx="1"/>
          </p:nvPr>
        </p:nvSpPr>
        <p:spPr>
          <a:xfrm>
            <a:off x="534211" y="1508582"/>
            <a:ext cx="8596668" cy="5170514"/>
          </a:xfrm>
        </p:spPr>
        <p:txBody>
          <a:bodyPr>
            <a:normAutofit/>
          </a:bodyPr>
          <a:lstStyle/>
          <a:p>
            <a:pPr algn="just"/>
            <a:r>
              <a:rPr lang="es-MX" dirty="0"/>
              <a:t>El </a:t>
            </a:r>
            <a:r>
              <a:rPr lang="es-MX" b="1" i="1" u="sng" dirty="0">
                <a:solidFill>
                  <a:srgbClr val="FF0000"/>
                </a:solidFill>
              </a:rPr>
              <a:t>ciberbullying</a:t>
            </a:r>
            <a:r>
              <a:rPr lang="es-MX" dirty="0"/>
              <a:t> se puede dar cuando usamos internet, redes sociales, video juegos online, etc. Podemos prevenirlo siguiendo algunas recomendaciones: </a:t>
            </a:r>
          </a:p>
          <a:p>
            <a:pPr algn="just"/>
            <a:r>
              <a:rPr lang="es-MX" dirty="0"/>
              <a:t>1.Tener cuidado de las fotos, mensajes, videos o estados que subimos a las redes sociales</a:t>
            </a:r>
          </a:p>
          <a:p>
            <a:pPr algn="just"/>
            <a:r>
              <a:rPr lang="es-MX" dirty="0"/>
              <a:t>2.Que nadie conozca nuestras contraseñas y accesos de nuestras cuentas </a:t>
            </a:r>
          </a:p>
          <a:p>
            <a:pPr algn="just"/>
            <a:r>
              <a:rPr lang="es-MX" dirty="0"/>
              <a:t>3.Revisar nuestro correo electrónico para ver si alguien a ingresado o quiere ingresar a nuestras cuentas.</a:t>
            </a:r>
          </a:p>
          <a:p>
            <a:pPr marL="0" indent="0" algn="just">
              <a:buNone/>
            </a:pPr>
            <a:r>
              <a:rPr lang="es-MX" dirty="0"/>
              <a:t>Si alguien YA SUFRE CIBERBULLYING entonces podemos hacer lo siguiente:</a:t>
            </a:r>
          </a:p>
          <a:p>
            <a:pPr algn="just">
              <a:buAutoNum type="arabicPeriod"/>
            </a:pPr>
            <a:r>
              <a:rPr lang="es-MX" dirty="0"/>
              <a:t>Pedir ayuda(padres. maestros)</a:t>
            </a:r>
          </a:p>
          <a:p>
            <a:pPr algn="just">
              <a:buAutoNum type="arabicPeriod"/>
            </a:pPr>
            <a:r>
              <a:rPr lang="es-MX" dirty="0"/>
              <a:t>No responder a las provocaciones</a:t>
            </a:r>
          </a:p>
          <a:p>
            <a:pPr algn="just">
              <a:buAutoNum type="arabicPeriod"/>
            </a:pPr>
            <a:r>
              <a:rPr lang="es-MX" dirty="0"/>
              <a:t>Mantener la calma</a:t>
            </a:r>
          </a:p>
          <a:p>
            <a:pPr algn="just">
              <a:buAutoNum type="arabicPeriod"/>
            </a:pPr>
            <a:r>
              <a:rPr lang="es-MX" dirty="0"/>
              <a:t>Si el problema se extiende podemos denunciar al 088 acudiendo a la policía cibernética, a la cuenta de Twitter @ceac_cns  o al correo electrónico ceac@cns.gob.mx </a:t>
            </a:r>
          </a:p>
          <a:p>
            <a:pPr>
              <a:buAutoNum type="arabicPeriod"/>
            </a:pPr>
            <a:endParaRPr lang="en-US" dirty="0"/>
          </a:p>
        </p:txBody>
      </p:sp>
    </p:spTree>
    <p:extLst>
      <p:ext uri="{BB962C8B-B14F-4D97-AF65-F5344CB8AC3E}">
        <p14:creationId xmlns:p14="http://schemas.microsoft.com/office/powerpoint/2010/main" val="3426890759"/>
      </p:ext>
    </p:extLst>
  </p:cSld>
  <p:clrMapOvr>
    <a:masterClrMapping/>
  </p:clrMapOvr>
  <p:transition spd="slow" advClick="0" advTm="80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7ACDB3-7EBE-4FA4-A414-2FCA0CABC68C}"/>
              </a:ext>
            </a:extLst>
          </p:cNvPr>
          <p:cNvSpPr>
            <a:spLocks noGrp="1"/>
          </p:cNvSpPr>
          <p:nvPr>
            <p:ph type="title"/>
          </p:nvPr>
        </p:nvSpPr>
        <p:spPr/>
        <p:txBody>
          <a:bodyPr/>
          <a:lstStyle/>
          <a:p>
            <a:endParaRPr lang="en-US"/>
          </a:p>
        </p:txBody>
      </p:sp>
      <p:sp>
        <p:nvSpPr>
          <p:cNvPr id="3" name="Marcador de contenido 2">
            <a:extLst>
              <a:ext uri="{FF2B5EF4-FFF2-40B4-BE49-F238E27FC236}">
                <a16:creationId xmlns:a16="http://schemas.microsoft.com/office/drawing/2014/main" id="{C41BF5F2-FA11-435C-9358-415834D3CF85}"/>
              </a:ext>
            </a:extLst>
          </p:cNvPr>
          <p:cNvSpPr>
            <a:spLocks noGrp="1"/>
          </p:cNvSpPr>
          <p:nvPr>
            <p:ph idx="1"/>
          </p:nvPr>
        </p:nvSpPr>
        <p:spPr/>
        <p:txBody>
          <a:bodyPr>
            <a:normAutofit fontScale="92500"/>
          </a:bodyPr>
          <a:lstStyle/>
          <a:p>
            <a:pPr algn="just"/>
            <a:r>
              <a:rPr lang="es-MX" dirty="0"/>
              <a:t>Otra forma de sufrir acoso y extorsión  es por medio del </a:t>
            </a:r>
            <a:r>
              <a:rPr lang="es-MX" b="1" i="1" u="sng" dirty="0">
                <a:solidFill>
                  <a:srgbClr val="FF0000"/>
                </a:solidFill>
              </a:rPr>
              <a:t>Sexting</a:t>
            </a:r>
            <a:r>
              <a:rPr lang="es-MX" dirty="0"/>
              <a:t>, esto se da cuando compartimos fotos intimas, inapropiadas a alguien de “confianza”, pues esa persona puede publicarlas. Si perdemos nuestro teléfono y ahí llevamos fotos intimas nos arriesgamos a que alguien las vea y haga  mal uso de ellas, esto puede llevar a caer en chantajes y extorsiones, ¿como puedo prevenirlo?:</a:t>
            </a:r>
          </a:p>
          <a:p>
            <a:pPr algn="just"/>
            <a:r>
              <a:rPr lang="es-MX" dirty="0"/>
              <a:t>1. No tomar fotos intimas</a:t>
            </a:r>
            <a:endParaRPr lang="en-US" dirty="0"/>
          </a:p>
          <a:p>
            <a:pPr algn="just"/>
            <a:r>
              <a:rPr lang="en-US" dirty="0"/>
              <a:t>2. no accepter solicitudes de Amistad de personas </a:t>
            </a:r>
            <a:r>
              <a:rPr lang="en-US" dirty="0" err="1"/>
              <a:t>desconocidas</a:t>
            </a:r>
            <a:endParaRPr lang="en-US" dirty="0"/>
          </a:p>
          <a:p>
            <a:pPr algn="just"/>
            <a:r>
              <a:rPr lang="en-US" dirty="0"/>
              <a:t>3. </a:t>
            </a:r>
            <a:r>
              <a:rPr lang="en-US" dirty="0" err="1"/>
              <a:t>pedir</a:t>
            </a:r>
            <a:r>
              <a:rPr lang="en-US" dirty="0"/>
              <a:t> </a:t>
            </a:r>
            <a:r>
              <a:rPr lang="en-US" dirty="0" err="1"/>
              <a:t>ayuda</a:t>
            </a:r>
            <a:r>
              <a:rPr lang="en-US" dirty="0"/>
              <a:t> a </a:t>
            </a:r>
            <a:r>
              <a:rPr lang="en-US" dirty="0" err="1"/>
              <a:t>nuestros</a:t>
            </a:r>
            <a:r>
              <a:rPr lang="en-US" dirty="0"/>
              <a:t> padres, maestros, </a:t>
            </a:r>
            <a:r>
              <a:rPr lang="en-US" dirty="0" err="1"/>
              <a:t>autoridades</a:t>
            </a:r>
            <a:r>
              <a:rPr lang="en-US" dirty="0"/>
              <a:t>, personas </a:t>
            </a:r>
            <a:r>
              <a:rPr lang="en-US" dirty="0" err="1"/>
              <a:t>mayores</a:t>
            </a:r>
            <a:r>
              <a:rPr lang="en-US" dirty="0"/>
              <a:t> de </a:t>
            </a:r>
            <a:r>
              <a:rPr lang="en-US" dirty="0" err="1"/>
              <a:t>confianza,etc</a:t>
            </a:r>
            <a:r>
              <a:rPr lang="en-US" dirty="0"/>
              <a:t>.</a:t>
            </a:r>
          </a:p>
          <a:p>
            <a:pPr algn="just"/>
            <a:endParaRPr lang="en-US" dirty="0"/>
          </a:p>
          <a:p>
            <a:pPr algn="just"/>
            <a:r>
              <a:rPr lang="en-US" dirty="0" err="1"/>
              <a:t>En</a:t>
            </a:r>
            <a:r>
              <a:rPr lang="en-US" dirty="0"/>
              <a:t> México se </a:t>
            </a:r>
            <a:r>
              <a:rPr lang="en-US" dirty="0" err="1"/>
              <a:t>aprobo</a:t>
            </a:r>
            <a:r>
              <a:rPr lang="en-US" dirty="0"/>
              <a:t> la LEY OLIMPIA, que es para </a:t>
            </a:r>
            <a:r>
              <a:rPr lang="en-US" dirty="0" err="1"/>
              <a:t>atender</a:t>
            </a:r>
            <a:r>
              <a:rPr lang="en-US" dirty="0"/>
              <a:t> los </a:t>
            </a:r>
            <a:r>
              <a:rPr lang="en-US" dirty="0" err="1"/>
              <a:t>casos</a:t>
            </a:r>
            <a:r>
              <a:rPr lang="en-US" dirty="0"/>
              <a:t> de </a:t>
            </a:r>
            <a:r>
              <a:rPr lang="en-US" dirty="0" err="1"/>
              <a:t>Sextorsion</a:t>
            </a:r>
            <a:r>
              <a:rPr lang="en-US" dirty="0"/>
              <a:t>, </a:t>
            </a:r>
            <a:r>
              <a:rPr lang="en-US" dirty="0" err="1"/>
              <a:t>acoso</a:t>
            </a:r>
            <a:r>
              <a:rPr lang="en-US" dirty="0"/>
              <a:t> digital con </a:t>
            </a:r>
            <a:r>
              <a:rPr lang="en-US" dirty="0" err="1"/>
              <a:t>penas</a:t>
            </a:r>
            <a:r>
              <a:rPr lang="en-US" dirty="0"/>
              <a:t> de hasta 6 </a:t>
            </a:r>
            <a:r>
              <a:rPr lang="en-US" dirty="0" err="1"/>
              <a:t>años</a:t>
            </a:r>
            <a:r>
              <a:rPr lang="en-US" dirty="0"/>
              <a:t> de </a:t>
            </a:r>
            <a:r>
              <a:rPr lang="en-US" dirty="0" err="1"/>
              <a:t>prision</a:t>
            </a:r>
            <a:r>
              <a:rPr lang="en-US" dirty="0"/>
              <a:t>.</a:t>
            </a:r>
            <a:endParaRPr lang="es-MX" dirty="0"/>
          </a:p>
        </p:txBody>
      </p:sp>
    </p:spTree>
    <p:extLst>
      <p:ext uri="{BB962C8B-B14F-4D97-AF65-F5344CB8AC3E}">
        <p14:creationId xmlns:p14="http://schemas.microsoft.com/office/powerpoint/2010/main" val="1558304644"/>
      </p:ext>
    </p:extLst>
  </p:cSld>
  <p:clrMapOvr>
    <a:masterClrMapping/>
  </p:clrMapOvr>
  <p:transition spd="slow" advClick="0" advTm="80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423610-391F-42D8-B164-602B61C0614A}"/>
              </a:ext>
            </a:extLst>
          </p:cNvPr>
          <p:cNvSpPr>
            <a:spLocks noGrp="1"/>
          </p:cNvSpPr>
          <p:nvPr>
            <p:ph type="title"/>
          </p:nvPr>
        </p:nvSpPr>
        <p:spPr/>
        <p:txBody>
          <a:bodyPr/>
          <a:lstStyle/>
          <a:p>
            <a:r>
              <a:rPr lang="es-MX" dirty="0" err="1"/>
              <a:t>Conclusion</a:t>
            </a:r>
            <a:endParaRPr lang="en-US" dirty="0"/>
          </a:p>
        </p:txBody>
      </p:sp>
      <p:sp>
        <p:nvSpPr>
          <p:cNvPr id="3" name="Marcador de contenido 2">
            <a:extLst>
              <a:ext uri="{FF2B5EF4-FFF2-40B4-BE49-F238E27FC236}">
                <a16:creationId xmlns:a16="http://schemas.microsoft.com/office/drawing/2014/main" id="{1EA7CA51-2945-47AD-A6A9-FE68B790D2BA}"/>
              </a:ext>
            </a:extLst>
          </p:cNvPr>
          <p:cNvSpPr>
            <a:spLocks noGrp="1"/>
          </p:cNvSpPr>
          <p:nvPr>
            <p:ph idx="1"/>
          </p:nvPr>
        </p:nvSpPr>
        <p:spPr/>
        <p:txBody>
          <a:bodyPr>
            <a:normAutofit lnSpcReduction="10000"/>
          </a:bodyPr>
          <a:lstStyle/>
          <a:p>
            <a:r>
              <a:rPr lang="es-MX" dirty="0"/>
              <a:t>Recomendaciones :</a:t>
            </a:r>
          </a:p>
          <a:p>
            <a:pPr algn="just"/>
            <a:r>
              <a:rPr lang="es-MX" dirty="0"/>
              <a:t>1.</a:t>
            </a:r>
            <a:r>
              <a:rPr lang="en-US" sz="1800" b="0" i="0" u="none" strike="noStrike" dirty="0">
                <a:solidFill>
                  <a:srgbClr val="3F3F3F"/>
                </a:solidFill>
                <a:effectLst/>
                <a:latin typeface="Trebuchet MS" panose="020B0603020202020204" pitchFamily="34" charset="0"/>
              </a:rPr>
              <a:t> No </a:t>
            </a:r>
            <a:r>
              <a:rPr lang="en-US" sz="1800" b="0" i="0" u="none" strike="noStrike" dirty="0" err="1">
                <a:solidFill>
                  <a:srgbClr val="3F3F3F"/>
                </a:solidFill>
                <a:effectLst/>
                <a:latin typeface="Trebuchet MS" panose="020B0603020202020204" pitchFamily="34" charset="0"/>
              </a:rPr>
              <a:t>publicar</a:t>
            </a:r>
            <a:r>
              <a:rPr lang="en-US" sz="1800" b="0" i="0" u="none" strike="noStrike" dirty="0">
                <a:solidFill>
                  <a:srgbClr val="3F3F3F"/>
                </a:solidFill>
                <a:effectLst/>
                <a:latin typeface="Trebuchet MS" panose="020B0603020202020204" pitchFamily="34" charset="0"/>
              </a:rPr>
              <a:t> </a:t>
            </a:r>
            <a:r>
              <a:rPr lang="en-US" sz="1800" b="0" i="0" u="none" strike="noStrike" dirty="0" err="1">
                <a:solidFill>
                  <a:srgbClr val="3F3F3F"/>
                </a:solidFill>
                <a:effectLst/>
                <a:latin typeface="Trebuchet MS" panose="020B0603020202020204" pitchFamily="34" charset="0"/>
              </a:rPr>
              <a:t>fotos</a:t>
            </a:r>
            <a:r>
              <a:rPr lang="en-US" sz="1800" b="0" i="0" u="none" strike="noStrike" dirty="0">
                <a:solidFill>
                  <a:srgbClr val="3F3F3F"/>
                </a:solidFill>
                <a:effectLst/>
                <a:latin typeface="Trebuchet MS" panose="020B0603020202020204" pitchFamily="34" charset="0"/>
              </a:rPr>
              <a:t> </a:t>
            </a:r>
            <a:r>
              <a:rPr lang="en-US" sz="1800" b="0" i="0" u="none" strike="noStrike" dirty="0" err="1">
                <a:solidFill>
                  <a:srgbClr val="3F3F3F"/>
                </a:solidFill>
                <a:effectLst/>
                <a:latin typeface="Trebuchet MS" panose="020B0603020202020204" pitchFamily="34" charset="0"/>
              </a:rPr>
              <a:t>íntimas</a:t>
            </a:r>
            <a:r>
              <a:rPr lang="en-US" sz="1800" b="0" i="0" u="none" strike="noStrike" dirty="0">
                <a:solidFill>
                  <a:srgbClr val="3F3F3F"/>
                </a:solidFill>
                <a:effectLst/>
                <a:latin typeface="Trebuchet MS" panose="020B0603020202020204" pitchFamily="34" charset="0"/>
              </a:rPr>
              <a:t> con amigos</a:t>
            </a:r>
            <a:endParaRPr lang="es-MX" dirty="0"/>
          </a:p>
          <a:p>
            <a:pPr algn="just"/>
            <a:r>
              <a:rPr lang="es-MX" dirty="0"/>
              <a:t>2.</a:t>
            </a:r>
            <a:r>
              <a:rPr lang="en-US" sz="1800" b="0" i="0" u="none" strike="noStrike" dirty="0">
                <a:solidFill>
                  <a:srgbClr val="3F3F3F"/>
                </a:solidFill>
                <a:effectLst/>
                <a:latin typeface="Trebuchet MS" panose="020B0603020202020204" pitchFamily="34" charset="0"/>
              </a:rPr>
              <a:t> No </a:t>
            </a:r>
            <a:r>
              <a:rPr lang="en-US" sz="1800" b="0" i="0" u="none" strike="noStrike" dirty="0" err="1">
                <a:solidFill>
                  <a:srgbClr val="3F3F3F"/>
                </a:solidFill>
                <a:effectLst/>
                <a:latin typeface="Trebuchet MS" panose="020B0603020202020204" pitchFamily="34" charset="0"/>
              </a:rPr>
              <a:t>aceptes</a:t>
            </a:r>
            <a:r>
              <a:rPr lang="en-US" sz="1800" b="0" i="0" u="none" strike="noStrike" dirty="0">
                <a:solidFill>
                  <a:srgbClr val="3F3F3F"/>
                </a:solidFill>
                <a:effectLst/>
                <a:latin typeface="Trebuchet MS" panose="020B0603020202020204" pitchFamily="34" charset="0"/>
              </a:rPr>
              <a:t> solicitudes de </a:t>
            </a:r>
            <a:r>
              <a:rPr lang="en-US" sz="1800" b="0" i="0" u="none" strike="noStrike" dirty="0" err="1">
                <a:solidFill>
                  <a:srgbClr val="3F3F3F"/>
                </a:solidFill>
                <a:effectLst/>
                <a:latin typeface="Trebuchet MS" panose="020B0603020202020204" pitchFamily="34" charset="0"/>
              </a:rPr>
              <a:t>amistad</a:t>
            </a:r>
            <a:r>
              <a:rPr lang="en-US" sz="1800" b="0" i="0" u="none" strike="noStrike" dirty="0">
                <a:solidFill>
                  <a:srgbClr val="3F3F3F"/>
                </a:solidFill>
                <a:effectLst/>
                <a:latin typeface="Trebuchet MS" panose="020B0603020202020204" pitchFamily="34" charset="0"/>
              </a:rPr>
              <a:t> de </a:t>
            </a:r>
            <a:r>
              <a:rPr lang="es-MX" sz="1800" b="0" i="0" u="none" strike="noStrike" dirty="0">
                <a:solidFill>
                  <a:srgbClr val="3F3F3F"/>
                </a:solidFill>
                <a:effectLst/>
                <a:latin typeface="Trebuchet MS" panose="020B0603020202020204" pitchFamily="34" charset="0"/>
              </a:rPr>
              <a:t>desconocidos</a:t>
            </a:r>
            <a:endParaRPr lang="es-MX" dirty="0"/>
          </a:p>
          <a:p>
            <a:pPr algn="just"/>
            <a:r>
              <a:rPr lang="es-MX" dirty="0"/>
              <a:t>3.</a:t>
            </a:r>
            <a:r>
              <a:rPr lang="es-MX" sz="1800" b="0" i="0" u="none" strike="noStrike" dirty="0">
                <a:solidFill>
                  <a:srgbClr val="3F3F3F"/>
                </a:solidFill>
                <a:effectLst/>
                <a:latin typeface="Trebuchet MS" panose="020B0603020202020204" pitchFamily="34" charset="0"/>
              </a:rPr>
              <a:t> Pide ayuda a tus padres o maestros</a:t>
            </a:r>
            <a:endParaRPr lang="es-MX" dirty="0"/>
          </a:p>
          <a:p>
            <a:pPr algn="just"/>
            <a:r>
              <a:rPr lang="es-MX" dirty="0"/>
              <a:t>4.</a:t>
            </a:r>
            <a:r>
              <a:rPr lang="es-MX" sz="1800" b="0" i="0" u="none" strike="noStrike" dirty="0">
                <a:solidFill>
                  <a:srgbClr val="3F3F3F"/>
                </a:solidFill>
                <a:effectLst/>
                <a:latin typeface="Trebuchet MS" panose="020B0603020202020204" pitchFamily="34" charset="0"/>
              </a:rPr>
              <a:t> No respondas a las provocaciones de agresor</a:t>
            </a:r>
            <a:endParaRPr lang="es-MX" dirty="0"/>
          </a:p>
          <a:p>
            <a:pPr algn="just"/>
            <a:r>
              <a:rPr lang="es-MX" dirty="0"/>
              <a:t>5.</a:t>
            </a:r>
            <a:r>
              <a:rPr lang="en-US" sz="1800" b="0" i="0" u="none" strike="noStrike" dirty="0">
                <a:solidFill>
                  <a:srgbClr val="3F3F3F"/>
                </a:solidFill>
                <a:effectLst/>
                <a:latin typeface="Trebuchet MS" panose="020B0603020202020204" pitchFamily="34" charset="0"/>
              </a:rPr>
              <a:t> </a:t>
            </a:r>
            <a:r>
              <a:rPr lang="en-US" sz="1800" b="0" i="0" u="none" strike="noStrike" dirty="0" err="1">
                <a:solidFill>
                  <a:srgbClr val="3F3F3F"/>
                </a:solidFill>
                <a:effectLst/>
                <a:latin typeface="Trebuchet MS" panose="020B0603020202020204" pitchFamily="34" charset="0"/>
              </a:rPr>
              <a:t>Configura</a:t>
            </a:r>
            <a:r>
              <a:rPr lang="en-US" sz="1800" b="0" i="0" u="none" strike="noStrike" dirty="0">
                <a:solidFill>
                  <a:srgbClr val="3F3F3F"/>
                </a:solidFill>
                <a:effectLst/>
                <a:latin typeface="Trebuchet MS" panose="020B0603020202020204" pitchFamily="34" charset="0"/>
              </a:rPr>
              <a:t> </a:t>
            </a:r>
            <a:r>
              <a:rPr lang="es-MX" sz="1800" b="0" i="0" u="none" strike="noStrike" dirty="0">
                <a:solidFill>
                  <a:srgbClr val="3F3F3F"/>
                </a:solidFill>
                <a:effectLst/>
                <a:latin typeface="Trebuchet MS" panose="020B0603020202020204" pitchFamily="34" charset="0"/>
              </a:rPr>
              <a:t>correctamente</a:t>
            </a:r>
            <a:r>
              <a:rPr lang="en-US" sz="1800" b="0" i="0" u="none" strike="noStrike" dirty="0">
                <a:solidFill>
                  <a:srgbClr val="3F3F3F"/>
                </a:solidFill>
                <a:effectLst/>
                <a:latin typeface="Trebuchet MS" panose="020B0603020202020204" pitchFamily="34" charset="0"/>
              </a:rPr>
              <a:t> </a:t>
            </a:r>
            <a:r>
              <a:rPr lang="es-MX" sz="1800" b="0" i="0" u="none" strike="noStrike" dirty="0">
                <a:solidFill>
                  <a:srgbClr val="3F3F3F"/>
                </a:solidFill>
                <a:effectLst/>
                <a:latin typeface="Trebuchet MS" panose="020B0603020202020204" pitchFamily="34" charset="0"/>
              </a:rPr>
              <a:t>tu</a:t>
            </a:r>
            <a:r>
              <a:rPr lang="en-US" sz="1800" b="0" i="0" u="none" strike="noStrike" dirty="0">
                <a:solidFill>
                  <a:srgbClr val="3F3F3F"/>
                </a:solidFill>
                <a:effectLst/>
                <a:latin typeface="Trebuchet MS" panose="020B0603020202020204" pitchFamily="34" charset="0"/>
              </a:rPr>
              <a:t> </a:t>
            </a:r>
            <a:r>
              <a:rPr lang="en-US" sz="1800" b="0" i="0" u="none" strike="noStrike" dirty="0" err="1">
                <a:solidFill>
                  <a:srgbClr val="3F3F3F"/>
                </a:solidFill>
                <a:effectLst/>
                <a:latin typeface="Trebuchet MS" panose="020B0603020202020204" pitchFamily="34" charset="0"/>
              </a:rPr>
              <a:t>perfil</a:t>
            </a:r>
            <a:r>
              <a:rPr lang="en-US" sz="1800" b="0" i="0" u="none" strike="noStrike" dirty="0">
                <a:solidFill>
                  <a:srgbClr val="3F3F3F"/>
                </a:solidFill>
                <a:effectLst/>
                <a:latin typeface="Trebuchet MS" panose="020B0603020202020204" pitchFamily="34" charset="0"/>
              </a:rPr>
              <a:t> </a:t>
            </a:r>
            <a:endParaRPr lang="es-MX" dirty="0"/>
          </a:p>
          <a:p>
            <a:pPr algn="just"/>
            <a:r>
              <a:rPr lang="es-MX" dirty="0"/>
              <a:t>Reflexión final:</a:t>
            </a:r>
          </a:p>
          <a:p>
            <a:pPr marL="0" indent="0" algn="just">
              <a:buNone/>
            </a:pPr>
            <a:r>
              <a:rPr lang="es-MX" sz="1800" b="0" i="0" u="none" strike="noStrike" dirty="0">
                <a:solidFill>
                  <a:srgbClr val="3F3F3F"/>
                </a:solidFill>
                <a:effectLst/>
                <a:latin typeface="Trebuchet MS" panose="020B0603020202020204" pitchFamily="34" charset="0"/>
              </a:rPr>
              <a:t>Por qué es importante navegar por internet de manera segura por que nos ayuda a evitar el riesgo de que nos roben nuestra información personal, evita que nos hagan ciberbullying ,evita que seamos victimas de  acoso sexual y que caigamos en chantajes y extorsión </a:t>
            </a:r>
            <a:endParaRPr lang="es-MX" sz="1800" b="0" i="0" u="none" strike="noStrike" dirty="0">
              <a:solidFill>
                <a:srgbClr val="5FCBEF"/>
              </a:solidFill>
              <a:effectLst/>
              <a:latin typeface="Noto Sans Symbols"/>
            </a:endParaRPr>
          </a:p>
          <a:p>
            <a:endParaRPr lang="es-MX" dirty="0"/>
          </a:p>
          <a:p>
            <a:pPr marL="0" indent="0">
              <a:buNone/>
            </a:pPr>
            <a:endParaRPr lang="en-US" dirty="0"/>
          </a:p>
        </p:txBody>
      </p:sp>
    </p:spTree>
    <p:extLst>
      <p:ext uri="{BB962C8B-B14F-4D97-AF65-F5344CB8AC3E}">
        <p14:creationId xmlns:p14="http://schemas.microsoft.com/office/powerpoint/2010/main" val="2731939486"/>
      </p:ext>
    </p:extLst>
  </p:cSld>
  <p:clrMapOvr>
    <a:masterClrMapping/>
  </p:clrMapOvr>
  <p:transition spd="slow" advClick="0" advTm="80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F17F50-9686-47BE-9BFA-FBE1C773E9F3}"/>
              </a:ext>
            </a:extLst>
          </p:cNvPr>
          <p:cNvSpPr>
            <a:spLocks noGrp="1"/>
          </p:cNvSpPr>
          <p:nvPr>
            <p:ph type="title"/>
          </p:nvPr>
        </p:nvSpPr>
        <p:spPr/>
        <p:txBody>
          <a:bodyPr/>
          <a:lstStyle/>
          <a:p>
            <a:r>
              <a:rPr lang="es-MX" dirty="0"/>
              <a:t>Citas y referencias </a:t>
            </a:r>
            <a:endParaRPr lang="en-US" dirty="0"/>
          </a:p>
        </p:txBody>
      </p:sp>
      <p:sp>
        <p:nvSpPr>
          <p:cNvPr id="3" name="Marcador de contenido 2">
            <a:extLst>
              <a:ext uri="{FF2B5EF4-FFF2-40B4-BE49-F238E27FC236}">
                <a16:creationId xmlns:a16="http://schemas.microsoft.com/office/drawing/2014/main" id="{E36BB98F-8C5F-4AD1-9762-1A277D651DB3}"/>
              </a:ext>
            </a:extLst>
          </p:cNvPr>
          <p:cNvSpPr>
            <a:spLocks noGrp="1"/>
          </p:cNvSpPr>
          <p:nvPr>
            <p:ph idx="1"/>
          </p:nvPr>
        </p:nvSpPr>
        <p:spPr/>
        <p:txBody>
          <a:bodyPr>
            <a:normAutofit fontScale="92500" lnSpcReduction="20000"/>
          </a:bodyPr>
          <a:lstStyle/>
          <a:p>
            <a:pPr algn="just"/>
            <a:r>
              <a:rPr lang="en-US" dirty="0"/>
              <a:t> </a:t>
            </a:r>
            <a:r>
              <a:rPr lang="en-US" dirty="0" err="1"/>
              <a:t>Educar</a:t>
            </a:r>
            <a:r>
              <a:rPr lang="en-US" dirty="0"/>
              <a:t> Portal, (</a:t>
            </a:r>
            <a:r>
              <a:rPr lang="en-US" b="0" i="0" dirty="0">
                <a:solidFill>
                  <a:srgbClr val="0F0F0F"/>
                </a:solidFill>
                <a:effectLst/>
                <a:latin typeface="Roboto" panose="02000000000000000000" pitchFamily="2" charset="0"/>
              </a:rPr>
              <a:t>2019, 11 de </a:t>
            </a:r>
            <a:r>
              <a:rPr lang="en-US" dirty="0">
                <a:solidFill>
                  <a:srgbClr val="0F0F0F"/>
                </a:solidFill>
                <a:latin typeface="Roboto" panose="02000000000000000000" pitchFamily="2" charset="0"/>
              </a:rPr>
              <a:t>J</a:t>
            </a:r>
            <a:r>
              <a:rPr lang="en-US" b="0" i="0" dirty="0">
                <a:solidFill>
                  <a:srgbClr val="0F0F0F"/>
                </a:solidFill>
                <a:effectLst/>
                <a:latin typeface="Roboto" panose="02000000000000000000" pitchFamily="2" charset="0"/>
              </a:rPr>
              <a:t>ulio ).¿</a:t>
            </a:r>
            <a:r>
              <a:rPr lang="en-US" b="0" i="1" dirty="0">
                <a:solidFill>
                  <a:srgbClr val="0F0F0F"/>
                </a:solidFill>
                <a:effectLst/>
                <a:latin typeface="Roboto" panose="02000000000000000000" pitchFamily="2" charset="0"/>
              </a:rPr>
              <a:t>Que es la </a:t>
            </a:r>
            <a:r>
              <a:rPr lang="en-US" i="1" dirty="0" err="1">
                <a:solidFill>
                  <a:srgbClr val="0F0F0F"/>
                </a:solidFill>
                <a:latin typeface="Roboto" panose="02000000000000000000" pitchFamily="2" charset="0"/>
              </a:rPr>
              <a:t>H</a:t>
            </a:r>
            <a:r>
              <a:rPr lang="en-US" b="0" i="1" dirty="0" err="1">
                <a:solidFill>
                  <a:srgbClr val="0F0F0F"/>
                </a:solidFill>
                <a:effectLst/>
                <a:latin typeface="Roboto" panose="02000000000000000000" pitchFamily="2" charset="0"/>
              </a:rPr>
              <a:t>uella</a:t>
            </a:r>
            <a:r>
              <a:rPr lang="en-US" b="0" i="1" dirty="0">
                <a:solidFill>
                  <a:srgbClr val="0F0F0F"/>
                </a:solidFill>
                <a:effectLst/>
                <a:latin typeface="Roboto" panose="02000000000000000000" pitchFamily="2" charset="0"/>
              </a:rPr>
              <a:t> </a:t>
            </a:r>
            <a:r>
              <a:rPr lang="en-US" i="1" dirty="0">
                <a:solidFill>
                  <a:srgbClr val="0F0F0F"/>
                </a:solidFill>
                <a:latin typeface="Roboto" panose="02000000000000000000" pitchFamily="2" charset="0"/>
              </a:rPr>
              <a:t>D</a:t>
            </a:r>
            <a:r>
              <a:rPr lang="en-US" b="0" i="1" dirty="0">
                <a:solidFill>
                  <a:srgbClr val="0F0F0F"/>
                </a:solidFill>
                <a:effectLst/>
                <a:latin typeface="Roboto" panose="02000000000000000000" pitchFamily="2" charset="0"/>
              </a:rPr>
              <a:t>igital</a:t>
            </a:r>
            <a:r>
              <a:rPr lang="en-US" b="0" i="0" dirty="0">
                <a:solidFill>
                  <a:srgbClr val="0F0F0F"/>
                </a:solidFill>
                <a:effectLst/>
                <a:latin typeface="Roboto" panose="02000000000000000000" pitchFamily="2" charset="0"/>
              </a:rPr>
              <a:t>?[Video].</a:t>
            </a:r>
            <a:r>
              <a:rPr lang="en-US" dirty="0">
                <a:solidFill>
                  <a:srgbClr val="0F0F0F"/>
                </a:solidFill>
                <a:latin typeface="Roboto" panose="02000000000000000000" pitchFamily="2" charset="0"/>
              </a:rPr>
              <a:t>Y</a:t>
            </a:r>
            <a:r>
              <a:rPr lang="en-US" b="0" i="0" dirty="0">
                <a:solidFill>
                  <a:srgbClr val="0F0F0F"/>
                </a:solidFill>
                <a:effectLst/>
                <a:latin typeface="Roboto" panose="02000000000000000000" pitchFamily="2" charset="0"/>
              </a:rPr>
              <a:t>ouTube.</a:t>
            </a:r>
            <a:r>
              <a:rPr lang="en-US" dirty="0">
                <a:hlinkClick r:id="rId2"/>
              </a:rPr>
              <a:t> 		     https://www.youtube.com/watch?v=fb506ebswb8</a:t>
            </a:r>
            <a:endParaRPr lang="en-US" dirty="0"/>
          </a:p>
          <a:p>
            <a:pPr marL="0" indent="0" algn="just">
              <a:buNone/>
            </a:pPr>
            <a:endParaRPr lang="en-US" dirty="0"/>
          </a:p>
          <a:p>
            <a:pPr algn="just"/>
            <a:r>
              <a:rPr lang="en-US" dirty="0"/>
              <a:t>* Gutierrez Puebla, Javier (2018)</a:t>
            </a:r>
            <a:r>
              <a:rPr lang="en-US" i="1" dirty="0"/>
              <a:t>Big Data y </a:t>
            </a:r>
            <a:r>
              <a:rPr lang="en-US" i="1" dirty="0" err="1"/>
              <a:t>nuevas</a:t>
            </a:r>
            <a:r>
              <a:rPr lang="en-US" i="1" dirty="0"/>
              <a:t> </a:t>
            </a:r>
            <a:r>
              <a:rPr lang="en-US" i="1" dirty="0" err="1"/>
              <a:t>geografias</a:t>
            </a:r>
            <a:r>
              <a:rPr lang="en-US" i="1" dirty="0"/>
              <a:t> : la </a:t>
            </a:r>
            <a:r>
              <a:rPr lang="en-US" i="1" dirty="0" err="1"/>
              <a:t>huella</a:t>
            </a:r>
            <a:r>
              <a:rPr lang="en-US" i="1" dirty="0"/>
              <a:t> 		       digital de las </a:t>
            </a:r>
            <a:r>
              <a:rPr lang="en-US" i="1" dirty="0" err="1"/>
              <a:t>actvidades</a:t>
            </a:r>
            <a:r>
              <a:rPr lang="en-US" i="1" dirty="0"/>
              <a:t> </a:t>
            </a:r>
            <a:r>
              <a:rPr lang="en-US" i="1" dirty="0" err="1"/>
              <a:t>humanas</a:t>
            </a:r>
            <a:r>
              <a:rPr lang="en-US" i="1" dirty="0"/>
              <a:t>. Universidad </a:t>
            </a:r>
            <a:r>
              <a:rPr lang="en-US" i="1" dirty="0" err="1"/>
              <a:t>complutense</a:t>
            </a:r>
            <a:r>
              <a:rPr lang="en-US" i="1" dirty="0"/>
              <a:t> de       		       </a:t>
            </a:r>
            <a:r>
              <a:rPr lang="en-US" i="1" dirty="0" err="1"/>
              <a:t>madrid</a:t>
            </a:r>
            <a:r>
              <a:rPr lang="en-US" i="1" dirty="0"/>
              <a:t>.  </a:t>
            </a:r>
            <a:r>
              <a:rPr lang="en-US" i="1" dirty="0" err="1"/>
              <a:t>Departamento</a:t>
            </a:r>
            <a:r>
              <a:rPr lang="en-US" i="1" dirty="0"/>
              <a:t> de Geografia </a:t>
            </a:r>
            <a:r>
              <a:rPr lang="en-US" i="1" dirty="0" err="1"/>
              <a:t>humana</a:t>
            </a:r>
            <a:r>
              <a:rPr lang="en-US" i="1" dirty="0"/>
              <a:t>, 3</a:t>
            </a:r>
          </a:p>
          <a:p>
            <a:pPr algn="just"/>
            <a:r>
              <a:rPr lang="en-US" i="1" dirty="0"/>
              <a:t>Thompson de la Rosa Fernando(2018, 25 de mayo ),El  valor de la </a:t>
            </a:r>
            <a:r>
              <a:rPr lang="en-US" i="1" dirty="0" err="1"/>
              <a:t>privacidad</a:t>
            </a:r>
            <a:r>
              <a:rPr lang="en-US" i="1" dirty="0"/>
              <a:t> 		</a:t>
            </a:r>
            <a:r>
              <a:rPr lang="en-US" i="1" dirty="0" err="1"/>
              <a:t>en</a:t>
            </a:r>
            <a:r>
              <a:rPr lang="en-US" i="1" dirty="0"/>
              <a:t> </a:t>
            </a:r>
            <a:r>
              <a:rPr lang="en-US" i="1" dirty="0" err="1"/>
              <a:t>el</a:t>
            </a:r>
            <a:r>
              <a:rPr lang="en-US" i="1" dirty="0"/>
              <a:t> </a:t>
            </a:r>
            <a:r>
              <a:rPr lang="en-US" i="1" dirty="0" err="1"/>
              <a:t>mundo</a:t>
            </a:r>
            <a:r>
              <a:rPr lang="en-US" i="1" dirty="0"/>
              <a:t> </a:t>
            </a:r>
            <a:r>
              <a:rPr lang="en-US" i="1" dirty="0" err="1"/>
              <a:t>digital.UDLAP</a:t>
            </a:r>
            <a:r>
              <a:rPr lang="en-US" i="1" dirty="0"/>
              <a:t>. [Video].YouTube 							       </a:t>
            </a:r>
            <a:r>
              <a:rPr lang="en-US" i="1" dirty="0">
                <a:hlinkClick r:id="rId3"/>
              </a:rPr>
              <a:t>https://www.youtube.com/watch?v=DNhGlBlBSBQ</a:t>
            </a:r>
            <a:endParaRPr lang="en-US" i="1" dirty="0"/>
          </a:p>
          <a:p>
            <a:pPr algn="just"/>
            <a:r>
              <a:rPr lang="en-US" i="1" dirty="0" err="1"/>
              <a:t>Turegano</a:t>
            </a:r>
            <a:r>
              <a:rPr lang="en-US" i="1" dirty="0"/>
              <a:t> </a:t>
            </a:r>
            <a:r>
              <a:rPr lang="en-US" i="1" dirty="0" err="1"/>
              <a:t>Mansilla</a:t>
            </a:r>
            <a:r>
              <a:rPr lang="en-US" i="1" dirty="0"/>
              <a:t>, Isabel.(2020).Los </a:t>
            </a:r>
            <a:r>
              <a:rPr lang="en-US" i="1" dirty="0" err="1"/>
              <a:t>valores</a:t>
            </a:r>
            <a:r>
              <a:rPr lang="en-US" i="1" dirty="0"/>
              <a:t> </a:t>
            </a:r>
            <a:r>
              <a:rPr lang="en-US" i="1" dirty="0" err="1"/>
              <a:t>detras</a:t>
            </a:r>
            <a:r>
              <a:rPr lang="en-US" i="1" dirty="0"/>
              <a:t> de la </a:t>
            </a:r>
            <a:r>
              <a:rPr lang="en-US" i="1" dirty="0" err="1"/>
              <a:t>privacidad</a:t>
            </a:r>
            <a:r>
              <a:rPr lang="en-US" i="1" dirty="0"/>
              <a:t> .Doxa      		</a:t>
            </a:r>
            <a:r>
              <a:rPr lang="en-US" i="1" dirty="0" err="1"/>
              <a:t>cuadernos</a:t>
            </a:r>
            <a:r>
              <a:rPr lang="en-US" i="1" dirty="0"/>
              <a:t> de </a:t>
            </a:r>
            <a:r>
              <a:rPr lang="en-US" i="1" dirty="0" err="1"/>
              <a:t>filosofia</a:t>
            </a:r>
            <a:r>
              <a:rPr lang="en-US" i="1" dirty="0"/>
              <a:t> del derecho,43,pp.255-283</a:t>
            </a:r>
            <a:r>
              <a:rPr lang="pt-BR" dirty="0"/>
              <a:t>. https://doi.org/ 			10.14198/DOXA2020.43.10 </a:t>
            </a:r>
          </a:p>
          <a:p>
            <a:pPr algn="just"/>
            <a:r>
              <a:rPr lang="pt-BR" dirty="0"/>
              <a:t>Castillo, </a:t>
            </a:r>
            <a:r>
              <a:rPr lang="pt-BR" dirty="0" err="1"/>
              <a:t>Reyna</a:t>
            </a:r>
            <a:r>
              <a:rPr lang="pt-BR" dirty="0"/>
              <a:t>. (2020, 27  de </a:t>
            </a:r>
            <a:r>
              <a:rPr lang="pt-BR" dirty="0" err="1"/>
              <a:t>noviembre</a:t>
            </a:r>
            <a:r>
              <a:rPr lang="pt-BR" dirty="0"/>
              <a:t>).</a:t>
            </a:r>
            <a:r>
              <a:rPr lang="pt-BR" dirty="0" err="1"/>
              <a:t>ciberbullying</a:t>
            </a:r>
            <a:r>
              <a:rPr lang="pt-BR" dirty="0"/>
              <a:t>, sexting y </a:t>
            </a:r>
            <a:r>
              <a:rPr lang="pt-BR" dirty="0" err="1"/>
              <a:t>prevencion</a:t>
            </a:r>
            <a:r>
              <a:rPr lang="pt-BR" dirty="0"/>
              <a:t> de delitos </a:t>
            </a:r>
            <a:r>
              <a:rPr lang="pt-BR" dirty="0" err="1"/>
              <a:t>informaticos</a:t>
            </a:r>
            <a:r>
              <a:rPr lang="pt-BR" dirty="0"/>
              <a:t>  https://www.youtube.com/watch?v=caRAl2-LySw</a:t>
            </a:r>
          </a:p>
          <a:p>
            <a:endParaRPr lang="en-US" i="1" dirty="0"/>
          </a:p>
        </p:txBody>
      </p:sp>
    </p:spTree>
    <p:extLst>
      <p:ext uri="{BB962C8B-B14F-4D97-AF65-F5344CB8AC3E}">
        <p14:creationId xmlns:p14="http://schemas.microsoft.com/office/powerpoint/2010/main" val="4212847924"/>
      </p:ext>
    </p:extLst>
  </p:cSld>
  <p:clrMapOvr>
    <a:masterClrMapping/>
  </p:clrMapOvr>
  <p:transition spd="slow" advClick="0" advTm="8000">
    <p:fade/>
  </p:transition>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400</TotalTime>
  <Words>900</Words>
  <Application>Microsoft Office PowerPoint</Application>
  <PresentationFormat>Panorámica</PresentationFormat>
  <Paragraphs>46</Paragraphs>
  <Slides>8</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Arial</vt:lpstr>
      <vt:lpstr>Noto Sans Symbols</vt:lpstr>
      <vt:lpstr>Raleway</vt:lpstr>
      <vt:lpstr>Roboto</vt:lpstr>
      <vt:lpstr>Trebuchet MS</vt:lpstr>
      <vt:lpstr>Wingdings 3</vt:lpstr>
      <vt:lpstr>Faceta</vt:lpstr>
      <vt:lpstr>Navegar por internet de forma segura</vt:lpstr>
      <vt:lpstr>Introducción  </vt:lpstr>
      <vt:lpstr>Tema 1: La huella digital</vt:lpstr>
      <vt:lpstr>Tema 2 : La Privacidad Digital</vt:lpstr>
      <vt:lpstr>Tema 3: la Prevención del Ciberbullying y del Sexting</vt:lpstr>
      <vt:lpstr>Presentación de PowerPoint</vt:lpstr>
      <vt:lpstr>Conclusion</vt:lpstr>
      <vt:lpstr>Citas y referencias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Navegar por internet de forma segura</dc:title>
  <dc:creator>Araceli perez</dc:creator>
  <cp:lastModifiedBy>Araceli perez</cp:lastModifiedBy>
  <cp:revision>28</cp:revision>
  <dcterms:created xsi:type="dcterms:W3CDTF">2025-12-03T18:12:06Z</dcterms:created>
  <dcterms:modified xsi:type="dcterms:W3CDTF">2025-12-06T19:38:49Z</dcterms:modified>
</cp:coreProperties>
</file>