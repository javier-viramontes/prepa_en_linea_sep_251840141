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44c6aaf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44c6aaf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44c6aaf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44c6aaf0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e44c6aaf0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e44c6aaf0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44c6aaf0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e44c6aaf0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44c6aaf0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e44c6aaf0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44c6aaf0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e44c6aaf0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e44c6aaf0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e44c6aaf0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44c6aaf0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e44c6aaf0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e44c6aaf0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e44c6aaf0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e44c6aaf0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e44c6aaf0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 p14:dur="5000" advTm="0">
        <p:push dir="u"/>
      </p:transition>
    </mc:Choice>
    <mc:Fallback xmlns="">
      <p:transition spd="slow" advTm="0">
        <p:push dir="u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1wqtxts1xzle7.cloudfront.net/39827139/Historiografia_s.XX_Libro_de_Iggers.pdf" TargetMode="External"/><Relationship Id="rId7" Type="http://schemas.openxmlformats.org/officeDocument/2006/relationships/hyperlink" Target="https://www.tate.org.uk/art/artists/leonora-carrington-761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britannica.com/biography/Leonora-Carrington" TargetMode="External"/><Relationship Id="rId5" Type="http://schemas.openxmlformats.org/officeDocument/2006/relationships/hyperlink" Target="https://www.gutenberg.org" TargetMode="External"/><Relationship Id="rId4" Type="http://schemas.openxmlformats.org/officeDocument/2006/relationships/hyperlink" Target="https://www.britannic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751725" y="853550"/>
            <a:ext cx="6129900" cy="12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ACTIVIDAD INTEGRADORA 3.</a:t>
            </a:r>
            <a:endParaRPr sz="170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700" b="1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Textos y Mundos posibles</a:t>
            </a:r>
            <a:endParaRPr sz="1700" b="1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367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MÓDULO 4 SEMANA 2</a:t>
            </a:r>
            <a:endParaRPr sz="1367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28900" y="386690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Analia Pérez Pérez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M4C1G82-009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315" y="1657550"/>
            <a:ext cx="2977375" cy="2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0">
        <p15:prstTrans prst="curtains"/>
      </p:transition>
    </mc:Choice>
    <mc:Fallback xmlns=""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276225" y="1000100"/>
            <a:ext cx="8484900" cy="3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                                             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                                 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289700"/>
            <a:ext cx="2299325" cy="18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525" y="1289698"/>
            <a:ext cx="2143125" cy="18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701025" y="492200"/>
            <a:ext cx="7559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Primera impresión: </a:t>
            </a:r>
            <a:r>
              <a:rPr lang="es" sz="1650" b="1" i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Frankenstein o el moderno Prometeo</a:t>
            </a:r>
            <a:r>
              <a:rPr lang="es" sz="1650" b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de Mary Shelley</a:t>
            </a:r>
            <a:endParaRPr sz="2000" b="1"/>
          </a:p>
        </p:txBody>
      </p:sp>
      <p:sp>
        <p:nvSpPr>
          <p:cNvPr id="139" name="Google Shape;139;p14"/>
          <p:cNvSpPr txBox="1"/>
          <p:nvPr/>
        </p:nvSpPr>
        <p:spPr>
          <a:xfrm>
            <a:off x="1028699" y="930800"/>
            <a:ext cx="99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Emociones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3392788" y="968950"/>
            <a:ext cx="12192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Sentimientos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168388" y="968950"/>
            <a:ext cx="1272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Pensamientos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388625" y="3238500"/>
            <a:ext cx="21870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14325" y="3185175"/>
            <a:ext cx="2261400" cy="12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primer sentimiento fue el miedo, porque lo describe de una forma espantosa.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918450" y="3169925"/>
            <a:ext cx="2187000" cy="9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segundo sentimiento fue felicidad, porque su amigo no lo dejo a pesar de el estado en el que se encontraba.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669275" y="3154675"/>
            <a:ext cx="21432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tercer sentimiento fue curiosidad, porque no se que paso con el monstruo  o si en verdad  existió.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8450" y="1289700"/>
            <a:ext cx="2143200" cy="18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0">
        <p:circle/>
      </p:transition>
    </mc:Choice>
    <mc:Fallback xmlns="">
      <p:transition spd="slow" advTm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720100" y="236225"/>
            <a:ext cx="7505700" cy="8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Mary Shelley y su contexto</a:t>
            </a:r>
            <a:endParaRPr sz="3600" b="1"/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1"/>
          </p:nvPr>
        </p:nvSpPr>
        <p:spPr>
          <a:xfrm>
            <a:off x="266675" y="1221075"/>
            <a:ext cx="8050500" cy="28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aleway"/>
              <a:buChar char="●"/>
            </a:pPr>
            <a:r>
              <a:rPr lang="es" sz="1150" b="1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¿Cuando y donde fue escrita la obra?</a:t>
            </a:r>
            <a:endParaRPr sz="1150" b="1">
              <a:solidFill>
                <a:srgbClr val="1D2125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 Fue escrita en 1816 y 1817,  en el lago de Ginebra, Suiza. </a:t>
            </a:r>
            <a:endParaRPr sz="1050">
              <a:solidFill>
                <a:srgbClr val="1D2125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rgbClr val="1D2125"/>
              </a:buClr>
              <a:buSzPts val="1050"/>
              <a:buFont typeface="Raleway"/>
              <a:buChar char="●"/>
            </a:pPr>
            <a:r>
              <a:rPr lang="es" sz="1050" b="1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¿Como era la sociedad europea, inglesa, suiza y alemana en la primera mitad del siglo XIX?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Europa vivía  la Revolución Industrial, con crecimiento urbano y desigualdad social. Inglaterra estaba al frente de  la industrialización. Suiza se mantenía más rural y descentralizada. Los estados alemanes impulsaron el nacionalismo y el Romanticismo en medio de una fuerte fragmentación política.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aleway"/>
              <a:buChar char="●"/>
            </a:pPr>
            <a:r>
              <a:rPr lang="es" sz="1050" b="1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¿Por qué escribió la autora esta obra? 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</a:t>
            </a:r>
            <a:r>
              <a:rPr lang="e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reto literario: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1816, durante una estancia en Suiza con Lord Byron y otros escritores, se propuso un concurso para crear una historia de terror. De ahí surgió la idea inicial.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 advTm="0">
        <p:pull/>
      </p:transition>
    </mc:Choice>
    <mc:Fallback xmlns="">
      <p:transition spd="slow" advTm="0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422925" y="296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Frankenstein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una obra perteneciente al (Romanticismo)</a:t>
            </a:r>
            <a:endParaRPr sz="360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1"/>
          </p:nvPr>
        </p:nvSpPr>
        <p:spPr>
          <a:xfrm>
            <a:off x="674375" y="824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Frases: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“¿Como expresar mi sensación ante esta catástrofe o describir el engendro que con tanto esfuerzo e infinito trabajo había creado?....”</a:t>
            </a:r>
            <a:endParaRPr sz="12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                            (Shelley, Año 1816, p.21)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99" y="2362674"/>
            <a:ext cx="4932975" cy="2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750" advTm="0">
        <p15:prstTrans prst="fallOve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Frankenstein</a:t>
            </a: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 y el sentido de la vida </a:t>
            </a:r>
            <a:endParaRPr sz="3800"/>
          </a:p>
        </p:txBody>
      </p:sp>
      <p:sp>
        <p:nvSpPr>
          <p:cNvPr id="165" name="Google Shape;165;p17"/>
          <p:cNvSpPr txBox="1">
            <a:spLocks noGrp="1"/>
          </p:cNvSpPr>
          <p:nvPr>
            <p:ph type="body" idx="1"/>
          </p:nvPr>
        </p:nvSpPr>
        <p:spPr>
          <a:xfrm>
            <a:off x="2567950" y="1737350"/>
            <a:ext cx="5757000" cy="27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¿cuál es el sentido de la vida para Víctor Frankenstein? 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“infundir vida en un cuerpo inerte…” </a:t>
            </a: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32004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(Shelley, Año 1816, p.21)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meta era vencer a la muerte por medio de la ciencia, sin importarle su salud y su bienestar físico.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29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00" y="1512925"/>
            <a:ext cx="2015150" cy="29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heel spokes="1"/>
      </p:transition>
    </mc:Choice>
    <mc:Fallback xmlns="">
      <p:transition spd="slow" advTm="0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Primera impresión: “</a:t>
            </a: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”, de Leonora Carrington</a:t>
            </a:r>
            <a:endParaRPr sz="3600" b="1"/>
          </a:p>
        </p:txBody>
      </p:sp>
      <p:sp>
        <p:nvSpPr>
          <p:cNvPr id="172" name="Google Shape;172;p18"/>
          <p:cNvSpPr txBox="1">
            <a:spLocks noGrp="1"/>
          </p:cNvSpPr>
          <p:nvPr>
            <p:ph type="body" idx="1"/>
          </p:nvPr>
        </p:nvSpPr>
        <p:spPr>
          <a:xfrm>
            <a:off x="548625" y="1415300"/>
            <a:ext cx="7669500" cy="33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218075" y="1466450"/>
            <a:ext cx="12192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Sentimientos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673088" y="1466450"/>
            <a:ext cx="1272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Pensamientos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44874" y="1415300"/>
            <a:ext cx="99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Emociones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5" y="1757703"/>
            <a:ext cx="2095501" cy="13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60202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 causo risa porque la hiena se vistió como humano y me imagine como caminaba al andar con tacones.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350" y="1757700"/>
            <a:ext cx="1988700" cy="13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283332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Sentí tristeza por la vida que llevaba la joven porque no tenia amigas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24257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pensamiento es de duda porque no sé qué fue lo que paso despues con la hiena que tuvo que brincar por la ventana.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6575" y="1749050"/>
            <a:ext cx="1910001" cy="143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 advTm="0">
        <p15:prstTrans prst="wind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Leonora Carrington y su contexto</a:t>
            </a:r>
            <a:endParaRPr sz="3600" b="1"/>
          </a:p>
        </p:txBody>
      </p:sp>
      <p:sp>
        <p:nvSpPr>
          <p:cNvPr id="187" name="Google Shape;187;p19"/>
          <p:cNvSpPr txBox="1">
            <a:spLocks noGrp="1"/>
          </p:cNvSpPr>
          <p:nvPr>
            <p:ph type="body" idx="1"/>
          </p:nvPr>
        </p:nvSpPr>
        <p:spPr>
          <a:xfrm>
            <a:off x="660375" y="15038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¿Cuándo y dónde fue escrita la obra? 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1937 en París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Cómo era la sociedad europea (inglesa y francesa) en la primera mitad del siglo XX?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Europa vivió guerras, crisis y cambios sociales. Francia destacó por su vida artística y el surrealismo, mientras Inglaterra mantenía tradiciones pero poco a poco iba haciendo cambios.  Se cuestionaron las normas sociales y surgieron nuevas formas de pensamiento y expresión.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¿Por qué crees que escribió la autora esta obra?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para  expresar su rechazo a las normas sociales y explorar la libertad individual desde una visión surrealista.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7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una obra perteneciente al (</a:t>
            </a:r>
            <a:r>
              <a:rPr lang="es" sz="1650" b="1">
                <a:solidFill>
                  <a:srgbClr val="1D2125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Surrealismo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)</a:t>
            </a:r>
            <a:endParaRPr sz="3600" b="1"/>
          </a:p>
        </p:txBody>
      </p:sp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819150" y="19069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"Con que te disfraces un poco, nadie se fijará en ti…”</a:t>
            </a: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(Carrington, 1937) </a:t>
            </a: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800" y="1379300"/>
            <a:ext cx="1654475" cy="220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crush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7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819150" y="540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50" b="1" i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8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 y el sentido de la vida</a:t>
            </a:r>
            <a:endParaRPr sz="3800" b="1"/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1"/>
          </p:nvPr>
        </p:nvSpPr>
        <p:spPr>
          <a:xfrm>
            <a:off x="674375" y="1442075"/>
            <a:ext cx="5421600" cy="32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¿cuál es el sentido de la vida para la protagonista? </a:t>
            </a:r>
            <a:endParaRPr sz="12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para ella el sentido de la vida era hacer lo que le gustaba y la hacía sentir bien,  no lo que le imponen.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524" y="891550"/>
            <a:ext cx="2685450" cy="397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0">
        <p15:prstTrans prst="curtains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710075" y="470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ficción y los mundos posibles</a:t>
            </a:r>
            <a:r>
              <a:rPr lang="es" sz="1750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 </a:t>
            </a:r>
            <a:endParaRPr sz="3700"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461000" y="1045800"/>
            <a:ext cx="3707100" cy="30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TEXTO: “Frankenstein”</a:t>
            </a:r>
            <a:endParaRPr sz="1050" b="1">
              <a:solidFill>
                <a:srgbClr val="000000"/>
              </a:solidFill>
              <a:highlight>
                <a:srgbClr val="F7F2E0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esesEs</a:t>
            </a:r>
            <a:endParaRPr sz="1050">
              <a:solidFill>
                <a:srgbClr val="000000"/>
              </a:solidFill>
              <a:highlight>
                <a:srgbClr val="F7F2E0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4674875" y="1137275"/>
            <a:ext cx="3707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TEXTO: “La debutante”</a:t>
            </a:r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96" y="1327750"/>
            <a:ext cx="2077900" cy="23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496700" y="3703325"/>
            <a:ext cx="398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Esta obra nos permite reflexionar sobre los peligros de la ciencia, cuando pasamos por alto la ética y la moral.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875" y="1461150"/>
            <a:ext cx="2124124" cy="2124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4537325" y="3703325"/>
            <a:ext cx="398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 medio de la imaginación y lo absurdo se pueden manifestar verdades ocultas sobre la sociedad.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Tm="0">
        <p14:glitter pattern="hexagon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819150" y="548400"/>
            <a:ext cx="7505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latin typeface="Raleway"/>
                <a:ea typeface="Raleway"/>
                <a:cs typeface="Raleway"/>
                <a:sym typeface="Raleway"/>
              </a:rPr>
              <a:t>Fuentes de consulta</a:t>
            </a:r>
            <a:endParaRPr sz="165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1"/>
          </p:nvPr>
        </p:nvSpPr>
        <p:spPr>
          <a:xfrm>
            <a:off x="819150" y="1196400"/>
            <a:ext cx="75057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Iggers, G. G. (2012).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historiografía del siglo XX: desde la objetividad científica al desafío posmoderno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Fondo de Cultura Económica. 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https://d1wqtxts1xzle7.cloudfront.net/39827139/Historiografia_s.XX_Libro_de_Iggers.pdf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Encyclopaedia Britannica.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Mary Shelley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Recuperado de: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https://www.britannica.com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Gutenberg.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Frankenstein; or, The Modern Prometheus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Recuperado de: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https://www.gutenberg.org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Encyclopaedia Britannica.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Leonora Carrington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https://www.britannica.com/biography/Leonora-Carrington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Tate.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Leonora Carrington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https://www.tate.org.uk/art/artists/leonora-carrington-7615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804</Words>
  <Application>Microsoft Office PowerPoint</Application>
  <PresentationFormat>Presentación en pantalla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Roboto</vt:lpstr>
      <vt:lpstr>Arial</vt:lpstr>
      <vt:lpstr>Nunito</vt:lpstr>
      <vt:lpstr>Raleway</vt:lpstr>
      <vt:lpstr>Calibri</vt:lpstr>
      <vt:lpstr>Shift</vt:lpstr>
      <vt:lpstr>ACTIVIDAD INTEGRADORA 3. Textos y Mundos posibles MÓDULO 4 SEMANA 2 </vt:lpstr>
      <vt:lpstr>Presentación de PowerPoint</vt:lpstr>
      <vt:lpstr>Mary Shelley y su contexto</vt:lpstr>
      <vt:lpstr>Frankenstein, una obra perteneciente al (Romanticismo)</vt:lpstr>
      <vt:lpstr>Frankenstein y el sentido de la vida </vt:lpstr>
      <vt:lpstr>Primera impresión: “La debutante”, de Leonora Carrington</vt:lpstr>
      <vt:lpstr>Leonora Carrington y su contexto</vt:lpstr>
      <vt:lpstr>La debutante, una obra perteneciente al (Surrealismo)</vt:lpstr>
      <vt:lpstr>La debutante y el sentido de la vida</vt:lpstr>
      <vt:lpstr>La ficción y los mundos posibles </vt:lpstr>
      <vt:lpstr>Fuentes de consulta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INTEGRADORA 3. Textos y Mundos posibles MÓDULO 4 SEMANA 2</dc:title>
  <dc:creator>Master</dc:creator>
  <cp:lastModifiedBy>Araceli perez</cp:lastModifiedBy>
  <cp:revision>11</cp:revision>
  <dcterms:modified xsi:type="dcterms:W3CDTF">2026-04-12T05:34:14Z</dcterms:modified>
</cp:coreProperties>
</file>