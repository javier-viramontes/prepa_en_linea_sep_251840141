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p:scale>
          <a:sx n="100" d="100"/>
          <a:sy n="100" d="100"/>
        </p:scale>
        <p:origin x="852" y="3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E5F0D6-BDB4-4B78-BE63-DF01A214624C}" type="datetimeFigureOut">
              <a:rPr lang="en-US" smtClean="0"/>
              <a:t>3/7/2026</a:t>
            </a:fld>
            <a:endParaRPr lang="en-U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18C0604-2259-418D-AF59-91C93664624F}" type="slidenum">
              <a:rPr lang="en-US" smtClean="0"/>
              <a:t>‹Nº›</a:t>
            </a:fld>
            <a:endParaRPr lang="en-US"/>
          </a:p>
        </p:txBody>
      </p:sp>
    </p:spTree>
    <p:extLst>
      <p:ext uri="{BB962C8B-B14F-4D97-AF65-F5344CB8AC3E}">
        <p14:creationId xmlns:p14="http://schemas.microsoft.com/office/powerpoint/2010/main" val="38728187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EB4C946-52C9-4D51-AC03-0F94F6B96B72}"/>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n-US"/>
          </a:p>
        </p:txBody>
      </p:sp>
      <p:sp>
        <p:nvSpPr>
          <p:cNvPr id="3" name="Subtítulo 2">
            <a:extLst>
              <a:ext uri="{FF2B5EF4-FFF2-40B4-BE49-F238E27FC236}">
                <a16:creationId xmlns:a16="http://schemas.microsoft.com/office/drawing/2014/main" id="{D8546FA8-267E-4AF1-8715-376B4332758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a:p>
        </p:txBody>
      </p:sp>
      <p:sp>
        <p:nvSpPr>
          <p:cNvPr id="4" name="Marcador de fecha 3">
            <a:extLst>
              <a:ext uri="{FF2B5EF4-FFF2-40B4-BE49-F238E27FC236}">
                <a16:creationId xmlns:a16="http://schemas.microsoft.com/office/drawing/2014/main" id="{D0EB4683-E798-409F-B707-79214C7572A0}"/>
              </a:ext>
            </a:extLst>
          </p:cNvPr>
          <p:cNvSpPr>
            <a:spLocks noGrp="1"/>
          </p:cNvSpPr>
          <p:nvPr>
            <p:ph type="dt" sz="half" idx="10"/>
          </p:nvPr>
        </p:nvSpPr>
        <p:spPr/>
        <p:txBody>
          <a:bodyPr/>
          <a:lstStyle/>
          <a:p>
            <a:fld id="{8F40B91F-95CD-4FB4-A6A5-1035C5067E4E}" type="datetimeFigureOut">
              <a:rPr lang="en-US" smtClean="0"/>
              <a:t>3/7/2026</a:t>
            </a:fld>
            <a:endParaRPr lang="en-US"/>
          </a:p>
        </p:txBody>
      </p:sp>
      <p:sp>
        <p:nvSpPr>
          <p:cNvPr id="5" name="Marcador de pie de página 4">
            <a:extLst>
              <a:ext uri="{FF2B5EF4-FFF2-40B4-BE49-F238E27FC236}">
                <a16:creationId xmlns:a16="http://schemas.microsoft.com/office/drawing/2014/main" id="{9FB6A3F1-2A7A-4AE9-A728-530A7A84BC44}"/>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F9AA62FC-1B75-4BA0-B0BF-B59EA1B631BD}"/>
              </a:ext>
            </a:extLst>
          </p:cNvPr>
          <p:cNvSpPr>
            <a:spLocks noGrp="1"/>
          </p:cNvSpPr>
          <p:nvPr>
            <p:ph type="sldNum" sz="quarter" idx="12"/>
          </p:nvPr>
        </p:nvSpPr>
        <p:spPr/>
        <p:txBody>
          <a:bodyPr/>
          <a:lstStyle/>
          <a:p>
            <a:fld id="{80F26F03-6E3C-4689-B6A2-2474FF8A5950}" type="slidenum">
              <a:rPr lang="en-US" smtClean="0"/>
              <a:t>‹Nº›</a:t>
            </a:fld>
            <a:endParaRPr lang="en-US"/>
          </a:p>
        </p:txBody>
      </p:sp>
    </p:spTree>
    <p:extLst>
      <p:ext uri="{BB962C8B-B14F-4D97-AF65-F5344CB8AC3E}">
        <p14:creationId xmlns:p14="http://schemas.microsoft.com/office/powerpoint/2010/main" val="35698763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7C372D9-1B27-4D56-AEF8-7F1D85A1038B}"/>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contenido 2">
            <a:extLst>
              <a:ext uri="{FF2B5EF4-FFF2-40B4-BE49-F238E27FC236}">
                <a16:creationId xmlns:a16="http://schemas.microsoft.com/office/drawing/2014/main" id="{A1894E41-D36A-47AC-88A8-899583AB2F16}"/>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2CF0056E-F47C-46EB-BEE2-C9CA4F0274E2}"/>
              </a:ext>
            </a:extLst>
          </p:cNvPr>
          <p:cNvSpPr>
            <a:spLocks noGrp="1"/>
          </p:cNvSpPr>
          <p:nvPr>
            <p:ph type="dt" sz="half" idx="10"/>
          </p:nvPr>
        </p:nvSpPr>
        <p:spPr/>
        <p:txBody>
          <a:bodyPr/>
          <a:lstStyle/>
          <a:p>
            <a:fld id="{8F40B91F-95CD-4FB4-A6A5-1035C5067E4E}" type="datetimeFigureOut">
              <a:rPr lang="en-US" smtClean="0"/>
              <a:t>3/7/2026</a:t>
            </a:fld>
            <a:endParaRPr lang="en-US"/>
          </a:p>
        </p:txBody>
      </p:sp>
      <p:sp>
        <p:nvSpPr>
          <p:cNvPr id="5" name="Marcador de pie de página 4">
            <a:extLst>
              <a:ext uri="{FF2B5EF4-FFF2-40B4-BE49-F238E27FC236}">
                <a16:creationId xmlns:a16="http://schemas.microsoft.com/office/drawing/2014/main" id="{33AB1BBE-5944-47D5-8B86-D88481E01F3E}"/>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B038436F-F891-4F70-824D-AFB4D5941F4D}"/>
              </a:ext>
            </a:extLst>
          </p:cNvPr>
          <p:cNvSpPr>
            <a:spLocks noGrp="1"/>
          </p:cNvSpPr>
          <p:nvPr>
            <p:ph type="sldNum" sz="quarter" idx="12"/>
          </p:nvPr>
        </p:nvSpPr>
        <p:spPr/>
        <p:txBody>
          <a:bodyPr/>
          <a:lstStyle/>
          <a:p>
            <a:fld id="{80F26F03-6E3C-4689-B6A2-2474FF8A5950}" type="slidenum">
              <a:rPr lang="en-US" smtClean="0"/>
              <a:t>‹Nº›</a:t>
            </a:fld>
            <a:endParaRPr lang="en-US"/>
          </a:p>
        </p:txBody>
      </p:sp>
    </p:spTree>
    <p:extLst>
      <p:ext uri="{BB962C8B-B14F-4D97-AF65-F5344CB8AC3E}">
        <p14:creationId xmlns:p14="http://schemas.microsoft.com/office/powerpoint/2010/main" val="16969360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BBFF02F-F146-4F5F-9249-8FB36D17B560}"/>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n-US"/>
          </a:p>
        </p:txBody>
      </p:sp>
      <p:sp>
        <p:nvSpPr>
          <p:cNvPr id="3" name="Marcador de texto 2">
            <a:extLst>
              <a:ext uri="{FF2B5EF4-FFF2-40B4-BE49-F238E27FC236}">
                <a16:creationId xmlns:a16="http://schemas.microsoft.com/office/drawing/2014/main" id="{7EBB1AF4-13ED-47E3-A0F8-5EE0DAE24AF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1FD87BDC-C0A1-4BC9-B762-FC705A669BFF}"/>
              </a:ext>
            </a:extLst>
          </p:cNvPr>
          <p:cNvSpPr>
            <a:spLocks noGrp="1"/>
          </p:cNvSpPr>
          <p:nvPr>
            <p:ph type="dt" sz="half" idx="10"/>
          </p:nvPr>
        </p:nvSpPr>
        <p:spPr/>
        <p:txBody>
          <a:bodyPr/>
          <a:lstStyle/>
          <a:p>
            <a:fld id="{8F40B91F-95CD-4FB4-A6A5-1035C5067E4E}" type="datetimeFigureOut">
              <a:rPr lang="en-US" smtClean="0"/>
              <a:t>3/7/2026</a:t>
            </a:fld>
            <a:endParaRPr lang="en-US"/>
          </a:p>
        </p:txBody>
      </p:sp>
      <p:sp>
        <p:nvSpPr>
          <p:cNvPr id="5" name="Marcador de pie de página 4">
            <a:extLst>
              <a:ext uri="{FF2B5EF4-FFF2-40B4-BE49-F238E27FC236}">
                <a16:creationId xmlns:a16="http://schemas.microsoft.com/office/drawing/2014/main" id="{9ACE5A7C-00D8-42F0-B98B-FE739E863AC9}"/>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2E08477A-A2A3-4FC5-9007-8DDBAB584898}"/>
              </a:ext>
            </a:extLst>
          </p:cNvPr>
          <p:cNvSpPr>
            <a:spLocks noGrp="1"/>
          </p:cNvSpPr>
          <p:nvPr>
            <p:ph type="sldNum" sz="quarter" idx="12"/>
          </p:nvPr>
        </p:nvSpPr>
        <p:spPr/>
        <p:txBody>
          <a:bodyPr/>
          <a:lstStyle/>
          <a:p>
            <a:fld id="{80F26F03-6E3C-4689-B6A2-2474FF8A5950}" type="slidenum">
              <a:rPr lang="en-US" smtClean="0"/>
              <a:t>‹Nº›</a:t>
            </a:fld>
            <a:endParaRPr lang="en-US"/>
          </a:p>
        </p:txBody>
      </p:sp>
    </p:spTree>
    <p:extLst>
      <p:ext uri="{BB962C8B-B14F-4D97-AF65-F5344CB8AC3E}">
        <p14:creationId xmlns:p14="http://schemas.microsoft.com/office/powerpoint/2010/main" val="27966750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EE73F1C-2CB2-4458-B496-313E0301E453}"/>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contenido 2">
            <a:extLst>
              <a:ext uri="{FF2B5EF4-FFF2-40B4-BE49-F238E27FC236}">
                <a16:creationId xmlns:a16="http://schemas.microsoft.com/office/drawing/2014/main" id="{530CCE36-F862-4910-B1B4-8D56B45F9B10}"/>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contenido 3">
            <a:extLst>
              <a:ext uri="{FF2B5EF4-FFF2-40B4-BE49-F238E27FC236}">
                <a16:creationId xmlns:a16="http://schemas.microsoft.com/office/drawing/2014/main" id="{260AD988-E69F-4CF2-8D83-C5653343B531}"/>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Marcador de fecha 4">
            <a:extLst>
              <a:ext uri="{FF2B5EF4-FFF2-40B4-BE49-F238E27FC236}">
                <a16:creationId xmlns:a16="http://schemas.microsoft.com/office/drawing/2014/main" id="{4B674DE6-1188-47DE-961D-379570A99DA4}"/>
              </a:ext>
            </a:extLst>
          </p:cNvPr>
          <p:cNvSpPr>
            <a:spLocks noGrp="1"/>
          </p:cNvSpPr>
          <p:nvPr>
            <p:ph type="dt" sz="half" idx="10"/>
          </p:nvPr>
        </p:nvSpPr>
        <p:spPr/>
        <p:txBody>
          <a:bodyPr/>
          <a:lstStyle/>
          <a:p>
            <a:fld id="{8F40B91F-95CD-4FB4-A6A5-1035C5067E4E}" type="datetimeFigureOut">
              <a:rPr lang="en-US" smtClean="0"/>
              <a:t>3/7/2026</a:t>
            </a:fld>
            <a:endParaRPr lang="en-US"/>
          </a:p>
        </p:txBody>
      </p:sp>
      <p:sp>
        <p:nvSpPr>
          <p:cNvPr id="6" name="Marcador de pie de página 5">
            <a:extLst>
              <a:ext uri="{FF2B5EF4-FFF2-40B4-BE49-F238E27FC236}">
                <a16:creationId xmlns:a16="http://schemas.microsoft.com/office/drawing/2014/main" id="{D7F0E55D-091A-4E54-9215-241D6217AD6C}"/>
              </a:ext>
            </a:extLst>
          </p:cNvPr>
          <p:cNvSpPr>
            <a:spLocks noGrp="1"/>
          </p:cNvSpPr>
          <p:nvPr>
            <p:ph type="ftr" sz="quarter" idx="11"/>
          </p:nvPr>
        </p:nvSpPr>
        <p:spPr/>
        <p:txBody>
          <a:bodyPr/>
          <a:lstStyle/>
          <a:p>
            <a:endParaRPr lang="en-US"/>
          </a:p>
        </p:txBody>
      </p:sp>
      <p:sp>
        <p:nvSpPr>
          <p:cNvPr id="7" name="Marcador de número de diapositiva 6">
            <a:extLst>
              <a:ext uri="{FF2B5EF4-FFF2-40B4-BE49-F238E27FC236}">
                <a16:creationId xmlns:a16="http://schemas.microsoft.com/office/drawing/2014/main" id="{36A43102-03E6-4E48-A786-260A933D1FCC}"/>
              </a:ext>
            </a:extLst>
          </p:cNvPr>
          <p:cNvSpPr>
            <a:spLocks noGrp="1"/>
          </p:cNvSpPr>
          <p:nvPr>
            <p:ph type="sldNum" sz="quarter" idx="12"/>
          </p:nvPr>
        </p:nvSpPr>
        <p:spPr/>
        <p:txBody>
          <a:bodyPr/>
          <a:lstStyle/>
          <a:p>
            <a:fld id="{80F26F03-6E3C-4689-B6A2-2474FF8A5950}" type="slidenum">
              <a:rPr lang="en-US" smtClean="0"/>
              <a:t>‹Nº›</a:t>
            </a:fld>
            <a:endParaRPr lang="en-US"/>
          </a:p>
        </p:txBody>
      </p:sp>
    </p:spTree>
    <p:extLst>
      <p:ext uri="{BB962C8B-B14F-4D97-AF65-F5344CB8AC3E}">
        <p14:creationId xmlns:p14="http://schemas.microsoft.com/office/powerpoint/2010/main" val="15432162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C51FA23-06F9-477F-B53C-016C35959D56}"/>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n-US"/>
          </a:p>
        </p:txBody>
      </p:sp>
      <p:sp>
        <p:nvSpPr>
          <p:cNvPr id="3" name="Marcador de texto 2">
            <a:extLst>
              <a:ext uri="{FF2B5EF4-FFF2-40B4-BE49-F238E27FC236}">
                <a16:creationId xmlns:a16="http://schemas.microsoft.com/office/drawing/2014/main" id="{C93D8C97-0B4F-4203-AA79-F3295CF5008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2B1E87F6-A5A4-42A6-BE0A-C5B4713370AB}"/>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Marcador de texto 4">
            <a:extLst>
              <a:ext uri="{FF2B5EF4-FFF2-40B4-BE49-F238E27FC236}">
                <a16:creationId xmlns:a16="http://schemas.microsoft.com/office/drawing/2014/main" id="{0F4FDB8F-8D07-422B-B706-2F0F1ED2598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C97CEFB7-9CD1-484D-AE03-118E67ACD1A6}"/>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7" name="Marcador de fecha 6">
            <a:extLst>
              <a:ext uri="{FF2B5EF4-FFF2-40B4-BE49-F238E27FC236}">
                <a16:creationId xmlns:a16="http://schemas.microsoft.com/office/drawing/2014/main" id="{1DB4297B-BC55-4BF5-9117-48DAD7D9297E}"/>
              </a:ext>
            </a:extLst>
          </p:cNvPr>
          <p:cNvSpPr>
            <a:spLocks noGrp="1"/>
          </p:cNvSpPr>
          <p:nvPr>
            <p:ph type="dt" sz="half" idx="10"/>
          </p:nvPr>
        </p:nvSpPr>
        <p:spPr/>
        <p:txBody>
          <a:bodyPr/>
          <a:lstStyle/>
          <a:p>
            <a:fld id="{8F40B91F-95CD-4FB4-A6A5-1035C5067E4E}" type="datetimeFigureOut">
              <a:rPr lang="en-US" smtClean="0"/>
              <a:t>3/7/2026</a:t>
            </a:fld>
            <a:endParaRPr lang="en-US"/>
          </a:p>
        </p:txBody>
      </p:sp>
      <p:sp>
        <p:nvSpPr>
          <p:cNvPr id="8" name="Marcador de pie de página 7">
            <a:extLst>
              <a:ext uri="{FF2B5EF4-FFF2-40B4-BE49-F238E27FC236}">
                <a16:creationId xmlns:a16="http://schemas.microsoft.com/office/drawing/2014/main" id="{C4560125-2BFC-46C3-B7F2-F7E05A53651D}"/>
              </a:ext>
            </a:extLst>
          </p:cNvPr>
          <p:cNvSpPr>
            <a:spLocks noGrp="1"/>
          </p:cNvSpPr>
          <p:nvPr>
            <p:ph type="ftr" sz="quarter" idx="11"/>
          </p:nvPr>
        </p:nvSpPr>
        <p:spPr/>
        <p:txBody>
          <a:bodyPr/>
          <a:lstStyle/>
          <a:p>
            <a:endParaRPr lang="en-US"/>
          </a:p>
        </p:txBody>
      </p:sp>
      <p:sp>
        <p:nvSpPr>
          <p:cNvPr id="9" name="Marcador de número de diapositiva 8">
            <a:extLst>
              <a:ext uri="{FF2B5EF4-FFF2-40B4-BE49-F238E27FC236}">
                <a16:creationId xmlns:a16="http://schemas.microsoft.com/office/drawing/2014/main" id="{5820179A-258C-4D28-8AB0-0ABCC6455C9A}"/>
              </a:ext>
            </a:extLst>
          </p:cNvPr>
          <p:cNvSpPr>
            <a:spLocks noGrp="1"/>
          </p:cNvSpPr>
          <p:nvPr>
            <p:ph type="sldNum" sz="quarter" idx="12"/>
          </p:nvPr>
        </p:nvSpPr>
        <p:spPr/>
        <p:txBody>
          <a:bodyPr/>
          <a:lstStyle/>
          <a:p>
            <a:fld id="{80F26F03-6E3C-4689-B6A2-2474FF8A5950}" type="slidenum">
              <a:rPr lang="en-US" smtClean="0"/>
              <a:t>‹Nº›</a:t>
            </a:fld>
            <a:endParaRPr lang="en-US"/>
          </a:p>
        </p:txBody>
      </p:sp>
    </p:spTree>
    <p:extLst>
      <p:ext uri="{BB962C8B-B14F-4D97-AF65-F5344CB8AC3E}">
        <p14:creationId xmlns:p14="http://schemas.microsoft.com/office/powerpoint/2010/main" val="17428677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919E0DC-CFE3-47B8-B49D-A28C11FA5F2F}"/>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fecha 2">
            <a:extLst>
              <a:ext uri="{FF2B5EF4-FFF2-40B4-BE49-F238E27FC236}">
                <a16:creationId xmlns:a16="http://schemas.microsoft.com/office/drawing/2014/main" id="{20F6E36A-6120-451B-814F-44A95F36C79C}"/>
              </a:ext>
            </a:extLst>
          </p:cNvPr>
          <p:cNvSpPr>
            <a:spLocks noGrp="1"/>
          </p:cNvSpPr>
          <p:nvPr>
            <p:ph type="dt" sz="half" idx="10"/>
          </p:nvPr>
        </p:nvSpPr>
        <p:spPr/>
        <p:txBody>
          <a:bodyPr/>
          <a:lstStyle/>
          <a:p>
            <a:fld id="{8F40B91F-95CD-4FB4-A6A5-1035C5067E4E}" type="datetimeFigureOut">
              <a:rPr lang="en-US" smtClean="0"/>
              <a:t>3/7/2026</a:t>
            </a:fld>
            <a:endParaRPr lang="en-US"/>
          </a:p>
        </p:txBody>
      </p:sp>
      <p:sp>
        <p:nvSpPr>
          <p:cNvPr id="4" name="Marcador de pie de página 3">
            <a:extLst>
              <a:ext uri="{FF2B5EF4-FFF2-40B4-BE49-F238E27FC236}">
                <a16:creationId xmlns:a16="http://schemas.microsoft.com/office/drawing/2014/main" id="{E4714CFD-7B5E-4142-89E0-C11300B3974E}"/>
              </a:ext>
            </a:extLst>
          </p:cNvPr>
          <p:cNvSpPr>
            <a:spLocks noGrp="1"/>
          </p:cNvSpPr>
          <p:nvPr>
            <p:ph type="ftr" sz="quarter" idx="11"/>
          </p:nvPr>
        </p:nvSpPr>
        <p:spPr/>
        <p:txBody>
          <a:bodyPr/>
          <a:lstStyle/>
          <a:p>
            <a:endParaRPr lang="en-US"/>
          </a:p>
        </p:txBody>
      </p:sp>
      <p:sp>
        <p:nvSpPr>
          <p:cNvPr id="5" name="Marcador de número de diapositiva 4">
            <a:extLst>
              <a:ext uri="{FF2B5EF4-FFF2-40B4-BE49-F238E27FC236}">
                <a16:creationId xmlns:a16="http://schemas.microsoft.com/office/drawing/2014/main" id="{2C7510CD-46A9-4C7F-BF56-45FC0203CDDF}"/>
              </a:ext>
            </a:extLst>
          </p:cNvPr>
          <p:cNvSpPr>
            <a:spLocks noGrp="1"/>
          </p:cNvSpPr>
          <p:nvPr>
            <p:ph type="sldNum" sz="quarter" idx="12"/>
          </p:nvPr>
        </p:nvSpPr>
        <p:spPr/>
        <p:txBody>
          <a:bodyPr/>
          <a:lstStyle/>
          <a:p>
            <a:fld id="{80F26F03-6E3C-4689-B6A2-2474FF8A5950}" type="slidenum">
              <a:rPr lang="en-US" smtClean="0"/>
              <a:t>‹Nº›</a:t>
            </a:fld>
            <a:endParaRPr lang="en-US"/>
          </a:p>
        </p:txBody>
      </p:sp>
    </p:spTree>
    <p:extLst>
      <p:ext uri="{BB962C8B-B14F-4D97-AF65-F5344CB8AC3E}">
        <p14:creationId xmlns:p14="http://schemas.microsoft.com/office/powerpoint/2010/main" val="4005550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DF83EC55-E940-43EB-802E-42559F0F5A1E}"/>
              </a:ext>
            </a:extLst>
          </p:cNvPr>
          <p:cNvSpPr>
            <a:spLocks noGrp="1"/>
          </p:cNvSpPr>
          <p:nvPr>
            <p:ph type="dt" sz="half" idx="10"/>
          </p:nvPr>
        </p:nvSpPr>
        <p:spPr/>
        <p:txBody>
          <a:bodyPr/>
          <a:lstStyle/>
          <a:p>
            <a:fld id="{8F40B91F-95CD-4FB4-A6A5-1035C5067E4E}" type="datetimeFigureOut">
              <a:rPr lang="en-US" smtClean="0"/>
              <a:t>3/7/2026</a:t>
            </a:fld>
            <a:endParaRPr lang="en-US"/>
          </a:p>
        </p:txBody>
      </p:sp>
      <p:sp>
        <p:nvSpPr>
          <p:cNvPr id="3" name="Marcador de pie de página 2">
            <a:extLst>
              <a:ext uri="{FF2B5EF4-FFF2-40B4-BE49-F238E27FC236}">
                <a16:creationId xmlns:a16="http://schemas.microsoft.com/office/drawing/2014/main" id="{50FE2891-0383-4644-A14D-797FB47EFE51}"/>
              </a:ext>
            </a:extLst>
          </p:cNvPr>
          <p:cNvSpPr>
            <a:spLocks noGrp="1"/>
          </p:cNvSpPr>
          <p:nvPr>
            <p:ph type="ftr" sz="quarter" idx="11"/>
          </p:nvPr>
        </p:nvSpPr>
        <p:spPr/>
        <p:txBody>
          <a:bodyPr/>
          <a:lstStyle/>
          <a:p>
            <a:endParaRPr lang="en-US"/>
          </a:p>
        </p:txBody>
      </p:sp>
      <p:sp>
        <p:nvSpPr>
          <p:cNvPr id="4" name="Marcador de número de diapositiva 3">
            <a:extLst>
              <a:ext uri="{FF2B5EF4-FFF2-40B4-BE49-F238E27FC236}">
                <a16:creationId xmlns:a16="http://schemas.microsoft.com/office/drawing/2014/main" id="{B89C88C5-060E-42BB-8C50-3FAF748C64CF}"/>
              </a:ext>
            </a:extLst>
          </p:cNvPr>
          <p:cNvSpPr>
            <a:spLocks noGrp="1"/>
          </p:cNvSpPr>
          <p:nvPr>
            <p:ph type="sldNum" sz="quarter" idx="12"/>
          </p:nvPr>
        </p:nvSpPr>
        <p:spPr/>
        <p:txBody>
          <a:bodyPr/>
          <a:lstStyle/>
          <a:p>
            <a:fld id="{80F26F03-6E3C-4689-B6A2-2474FF8A5950}" type="slidenum">
              <a:rPr lang="en-US" smtClean="0"/>
              <a:t>‹Nº›</a:t>
            </a:fld>
            <a:endParaRPr lang="en-US"/>
          </a:p>
        </p:txBody>
      </p:sp>
    </p:spTree>
    <p:extLst>
      <p:ext uri="{BB962C8B-B14F-4D97-AF65-F5344CB8AC3E}">
        <p14:creationId xmlns:p14="http://schemas.microsoft.com/office/powerpoint/2010/main" val="12494209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95DF8C1-21CF-422D-A572-15085F594E6E}"/>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a:p>
        </p:txBody>
      </p:sp>
      <p:sp>
        <p:nvSpPr>
          <p:cNvPr id="3" name="Marcador de contenido 2">
            <a:extLst>
              <a:ext uri="{FF2B5EF4-FFF2-40B4-BE49-F238E27FC236}">
                <a16:creationId xmlns:a16="http://schemas.microsoft.com/office/drawing/2014/main" id="{3D1503C1-02E3-4381-AF70-EE7CD4583DD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texto 3">
            <a:extLst>
              <a:ext uri="{FF2B5EF4-FFF2-40B4-BE49-F238E27FC236}">
                <a16:creationId xmlns:a16="http://schemas.microsoft.com/office/drawing/2014/main" id="{AFC3E91A-E62F-4470-A5E2-99F3A44BC4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09B5301E-59AE-430A-BA09-0C5B7BF41530}"/>
              </a:ext>
            </a:extLst>
          </p:cNvPr>
          <p:cNvSpPr>
            <a:spLocks noGrp="1"/>
          </p:cNvSpPr>
          <p:nvPr>
            <p:ph type="dt" sz="half" idx="10"/>
          </p:nvPr>
        </p:nvSpPr>
        <p:spPr/>
        <p:txBody>
          <a:bodyPr/>
          <a:lstStyle/>
          <a:p>
            <a:fld id="{8F40B91F-95CD-4FB4-A6A5-1035C5067E4E}" type="datetimeFigureOut">
              <a:rPr lang="en-US" smtClean="0"/>
              <a:t>3/7/2026</a:t>
            </a:fld>
            <a:endParaRPr lang="en-US"/>
          </a:p>
        </p:txBody>
      </p:sp>
      <p:sp>
        <p:nvSpPr>
          <p:cNvPr id="6" name="Marcador de pie de página 5">
            <a:extLst>
              <a:ext uri="{FF2B5EF4-FFF2-40B4-BE49-F238E27FC236}">
                <a16:creationId xmlns:a16="http://schemas.microsoft.com/office/drawing/2014/main" id="{6A078BFE-0045-4EF7-895C-E5A548C5C453}"/>
              </a:ext>
            </a:extLst>
          </p:cNvPr>
          <p:cNvSpPr>
            <a:spLocks noGrp="1"/>
          </p:cNvSpPr>
          <p:nvPr>
            <p:ph type="ftr" sz="quarter" idx="11"/>
          </p:nvPr>
        </p:nvSpPr>
        <p:spPr/>
        <p:txBody>
          <a:bodyPr/>
          <a:lstStyle/>
          <a:p>
            <a:endParaRPr lang="en-US"/>
          </a:p>
        </p:txBody>
      </p:sp>
      <p:sp>
        <p:nvSpPr>
          <p:cNvPr id="7" name="Marcador de número de diapositiva 6">
            <a:extLst>
              <a:ext uri="{FF2B5EF4-FFF2-40B4-BE49-F238E27FC236}">
                <a16:creationId xmlns:a16="http://schemas.microsoft.com/office/drawing/2014/main" id="{2FC0D3CA-5E09-43B0-9CDA-4F856E9E8A10}"/>
              </a:ext>
            </a:extLst>
          </p:cNvPr>
          <p:cNvSpPr>
            <a:spLocks noGrp="1"/>
          </p:cNvSpPr>
          <p:nvPr>
            <p:ph type="sldNum" sz="quarter" idx="12"/>
          </p:nvPr>
        </p:nvSpPr>
        <p:spPr/>
        <p:txBody>
          <a:bodyPr/>
          <a:lstStyle/>
          <a:p>
            <a:fld id="{80F26F03-6E3C-4689-B6A2-2474FF8A5950}" type="slidenum">
              <a:rPr lang="en-US" smtClean="0"/>
              <a:t>‹Nº›</a:t>
            </a:fld>
            <a:endParaRPr lang="en-US"/>
          </a:p>
        </p:txBody>
      </p:sp>
    </p:spTree>
    <p:extLst>
      <p:ext uri="{BB962C8B-B14F-4D97-AF65-F5344CB8AC3E}">
        <p14:creationId xmlns:p14="http://schemas.microsoft.com/office/powerpoint/2010/main" val="32091563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E93A44D-AEE0-45C3-950F-66A7B9F29894}"/>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a:p>
        </p:txBody>
      </p:sp>
      <p:sp>
        <p:nvSpPr>
          <p:cNvPr id="3" name="Marcador de posición de imagen 2">
            <a:extLst>
              <a:ext uri="{FF2B5EF4-FFF2-40B4-BE49-F238E27FC236}">
                <a16:creationId xmlns:a16="http://schemas.microsoft.com/office/drawing/2014/main" id="{3684C2BE-F3AE-409E-B96D-A7DD902A586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Marcador de texto 3">
            <a:extLst>
              <a:ext uri="{FF2B5EF4-FFF2-40B4-BE49-F238E27FC236}">
                <a16:creationId xmlns:a16="http://schemas.microsoft.com/office/drawing/2014/main" id="{8DA232D1-BA64-4ABB-9BC6-4EB445CA7C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07766405-14A6-4177-8C13-138A9BC7AF31}"/>
              </a:ext>
            </a:extLst>
          </p:cNvPr>
          <p:cNvSpPr>
            <a:spLocks noGrp="1"/>
          </p:cNvSpPr>
          <p:nvPr>
            <p:ph type="dt" sz="half" idx="10"/>
          </p:nvPr>
        </p:nvSpPr>
        <p:spPr/>
        <p:txBody>
          <a:bodyPr/>
          <a:lstStyle/>
          <a:p>
            <a:fld id="{8F40B91F-95CD-4FB4-A6A5-1035C5067E4E}" type="datetimeFigureOut">
              <a:rPr lang="en-US" smtClean="0"/>
              <a:t>3/7/2026</a:t>
            </a:fld>
            <a:endParaRPr lang="en-US"/>
          </a:p>
        </p:txBody>
      </p:sp>
      <p:sp>
        <p:nvSpPr>
          <p:cNvPr id="6" name="Marcador de pie de página 5">
            <a:extLst>
              <a:ext uri="{FF2B5EF4-FFF2-40B4-BE49-F238E27FC236}">
                <a16:creationId xmlns:a16="http://schemas.microsoft.com/office/drawing/2014/main" id="{ADD8CF0F-2E04-4D62-ABDB-9C46EF6C4B84}"/>
              </a:ext>
            </a:extLst>
          </p:cNvPr>
          <p:cNvSpPr>
            <a:spLocks noGrp="1"/>
          </p:cNvSpPr>
          <p:nvPr>
            <p:ph type="ftr" sz="quarter" idx="11"/>
          </p:nvPr>
        </p:nvSpPr>
        <p:spPr/>
        <p:txBody>
          <a:bodyPr/>
          <a:lstStyle/>
          <a:p>
            <a:endParaRPr lang="en-US"/>
          </a:p>
        </p:txBody>
      </p:sp>
      <p:sp>
        <p:nvSpPr>
          <p:cNvPr id="7" name="Marcador de número de diapositiva 6">
            <a:extLst>
              <a:ext uri="{FF2B5EF4-FFF2-40B4-BE49-F238E27FC236}">
                <a16:creationId xmlns:a16="http://schemas.microsoft.com/office/drawing/2014/main" id="{34D21C06-6E56-4C1A-A69F-141C2552F538}"/>
              </a:ext>
            </a:extLst>
          </p:cNvPr>
          <p:cNvSpPr>
            <a:spLocks noGrp="1"/>
          </p:cNvSpPr>
          <p:nvPr>
            <p:ph type="sldNum" sz="quarter" idx="12"/>
          </p:nvPr>
        </p:nvSpPr>
        <p:spPr/>
        <p:txBody>
          <a:bodyPr/>
          <a:lstStyle/>
          <a:p>
            <a:fld id="{80F26F03-6E3C-4689-B6A2-2474FF8A5950}" type="slidenum">
              <a:rPr lang="en-US" smtClean="0"/>
              <a:t>‹Nº›</a:t>
            </a:fld>
            <a:endParaRPr lang="en-US"/>
          </a:p>
        </p:txBody>
      </p:sp>
    </p:spTree>
    <p:extLst>
      <p:ext uri="{BB962C8B-B14F-4D97-AF65-F5344CB8AC3E}">
        <p14:creationId xmlns:p14="http://schemas.microsoft.com/office/powerpoint/2010/main" val="41153839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895F1D2-AF8C-4A7D-AB15-ADC3CAA3026D}"/>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texto vertical 2">
            <a:extLst>
              <a:ext uri="{FF2B5EF4-FFF2-40B4-BE49-F238E27FC236}">
                <a16:creationId xmlns:a16="http://schemas.microsoft.com/office/drawing/2014/main" id="{663CEC06-8FD6-412D-B125-E23773CFF426}"/>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05430B8C-9B25-46FC-B315-A9BC03D2CB2C}"/>
              </a:ext>
            </a:extLst>
          </p:cNvPr>
          <p:cNvSpPr>
            <a:spLocks noGrp="1"/>
          </p:cNvSpPr>
          <p:nvPr>
            <p:ph type="dt" sz="half" idx="10"/>
          </p:nvPr>
        </p:nvSpPr>
        <p:spPr/>
        <p:txBody>
          <a:bodyPr/>
          <a:lstStyle/>
          <a:p>
            <a:fld id="{8F40B91F-95CD-4FB4-A6A5-1035C5067E4E}" type="datetimeFigureOut">
              <a:rPr lang="en-US" smtClean="0"/>
              <a:t>3/7/2026</a:t>
            </a:fld>
            <a:endParaRPr lang="en-US"/>
          </a:p>
        </p:txBody>
      </p:sp>
      <p:sp>
        <p:nvSpPr>
          <p:cNvPr id="5" name="Marcador de pie de página 4">
            <a:extLst>
              <a:ext uri="{FF2B5EF4-FFF2-40B4-BE49-F238E27FC236}">
                <a16:creationId xmlns:a16="http://schemas.microsoft.com/office/drawing/2014/main" id="{4AB11644-9DDC-4612-85F4-28C18528A25B}"/>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2E46F915-C967-4BEE-805F-6B1E7B97A7D1}"/>
              </a:ext>
            </a:extLst>
          </p:cNvPr>
          <p:cNvSpPr>
            <a:spLocks noGrp="1"/>
          </p:cNvSpPr>
          <p:nvPr>
            <p:ph type="sldNum" sz="quarter" idx="12"/>
          </p:nvPr>
        </p:nvSpPr>
        <p:spPr/>
        <p:txBody>
          <a:bodyPr/>
          <a:lstStyle/>
          <a:p>
            <a:fld id="{80F26F03-6E3C-4689-B6A2-2474FF8A5950}" type="slidenum">
              <a:rPr lang="en-US" smtClean="0"/>
              <a:t>‹Nº›</a:t>
            </a:fld>
            <a:endParaRPr lang="en-US"/>
          </a:p>
        </p:txBody>
      </p:sp>
    </p:spTree>
    <p:extLst>
      <p:ext uri="{BB962C8B-B14F-4D97-AF65-F5344CB8AC3E}">
        <p14:creationId xmlns:p14="http://schemas.microsoft.com/office/powerpoint/2010/main" val="40242921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B6FA810B-5552-4974-809E-B6F030E2DA09}"/>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n-US"/>
          </a:p>
        </p:txBody>
      </p:sp>
      <p:sp>
        <p:nvSpPr>
          <p:cNvPr id="3" name="Marcador de texto vertical 2">
            <a:extLst>
              <a:ext uri="{FF2B5EF4-FFF2-40B4-BE49-F238E27FC236}">
                <a16:creationId xmlns:a16="http://schemas.microsoft.com/office/drawing/2014/main" id="{BF536746-B157-454D-99F6-783A6B1A969C}"/>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5657750F-177E-4FFA-A0DE-303847EEA6E2}"/>
              </a:ext>
            </a:extLst>
          </p:cNvPr>
          <p:cNvSpPr>
            <a:spLocks noGrp="1"/>
          </p:cNvSpPr>
          <p:nvPr>
            <p:ph type="dt" sz="half" idx="10"/>
          </p:nvPr>
        </p:nvSpPr>
        <p:spPr/>
        <p:txBody>
          <a:bodyPr/>
          <a:lstStyle/>
          <a:p>
            <a:fld id="{8F40B91F-95CD-4FB4-A6A5-1035C5067E4E}" type="datetimeFigureOut">
              <a:rPr lang="en-US" smtClean="0"/>
              <a:t>3/7/2026</a:t>
            </a:fld>
            <a:endParaRPr lang="en-US"/>
          </a:p>
        </p:txBody>
      </p:sp>
      <p:sp>
        <p:nvSpPr>
          <p:cNvPr id="5" name="Marcador de pie de página 4">
            <a:extLst>
              <a:ext uri="{FF2B5EF4-FFF2-40B4-BE49-F238E27FC236}">
                <a16:creationId xmlns:a16="http://schemas.microsoft.com/office/drawing/2014/main" id="{E04ED711-3B1B-470A-9641-672B1453957A}"/>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33FE747D-B639-413D-9053-1F89BA53FD69}"/>
              </a:ext>
            </a:extLst>
          </p:cNvPr>
          <p:cNvSpPr>
            <a:spLocks noGrp="1"/>
          </p:cNvSpPr>
          <p:nvPr>
            <p:ph type="sldNum" sz="quarter" idx="12"/>
          </p:nvPr>
        </p:nvSpPr>
        <p:spPr/>
        <p:txBody>
          <a:bodyPr/>
          <a:lstStyle/>
          <a:p>
            <a:fld id="{80F26F03-6E3C-4689-B6A2-2474FF8A5950}" type="slidenum">
              <a:rPr lang="en-US" smtClean="0"/>
              <a:t>‹Nº›</a:t>
            </a:fld>
            <a:endParaRPr lang="en-US"/>
          </a:p>
        </p:txBody>
      </p:sp>
    </p:spTree>
    <p:extLst>
      <p:ext uri="{BB962C8B-B14F-4D97-AF65-F5344CB8AC3E}">
        <p14:creationId xmlns:p14="http://schemas.microsoft.com/office/powerpoint/2010/main" val="12076318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DA0D11C0-ECBB-4B37-A19B-C048BE8217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a:p>
        </p:txBody>
      </p:sp>
      <p:sp>
        <p:nvSpPr>
          <p:cNvPr id="3" name="Marcador de texto 2">
            <a:extLst>
              <a:ext uri="{FF2B5EF4-FFF2-40B4-BE49-F238E27FC236}">
                <a16:creationId xmlns:a16="http://schemas.microsoft.com/office/drawing/2014/main" id="{B8F6255D-CD4B-4ECD-A3C9-8431AE9D62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2AEAAE1D-BB80-4812-8DD7-9D3E14DF469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40B91F-95CD-4FB4-A6A5-1035C5067E4E}" type="datetimeFigureOut">
              <a:rPr lang="en-US" smtClean="0"/>
              <a:t>3/7/2026</a:t>
            </a:fld>
            <a:endParaRPr lang="en-US"/>
          </a:p>
        </p:txBody>
      </p:sp>
      <p:sp>
        <p:nvSpPr>
          <p:cNvPr id="5" name="Marcador de pie de página 4">
            <a:extLst>
              <a:ext uri="{FF2B5EF4-FFF2-40B4-BE49-F238E27FC236}">
                <a16:creationId xmlns:a16="http://schemas.microsoft.com/office/drawing/2014/main" id="{A4E4C679-093B-41DF-859D-A44A4317A20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Marcador de número de diapositiva 5">
            <a:extLst>
              <a:ext uri="{FF2B5EF4-FFF2-40B4-BE49-F238E27FC236}">
                <a16:creationId xmlns:a16="http://schemas.microsoft.com/office/drawing/2014/main" id="{18A6F60D-96D0-4437-B53B-A36B3189071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0F26F03-6E3C-4689-B6A2-2474FF8A5950}" type="slidenum">
              <a:rPr lang="en-US" smtClean="0"/>
              <a:t>‹Nº›</a:t>
            </a:fld>
            <a:endParaRPr lang="en-US"/>
          </a:p>
        </p:txBody>
      </p:sp>
    </p:spTree>
    <p:extLst>
      <p:ext uri="{BB962C8B-B14F-4D97-AF65-F5344CB8AC3E}">
        <p14:creationId xmlns:p14="http://schemas.microsoft.com/office/powerpoint/2010/main" val="7760647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ww.unicef.org/"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g81c1.prepaenlinea.sep.gob.mx/user/index.php?id=35&amp;group=387" TargetMode="External"/><Relationship Id="rId2" Type="http://schemas.openxmlformats.org/officeDocument/2006/relationships/hyperlink" Target="https://www.adslzone.net/reportajes/privacidad/derechos-autor-fotos-internet/?utm_source=chatgpt.com" TargetMode="Externa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hyperlink" Target="https://g81c1.prepaenlinea.sep.gob.mx/user/index.php?id=35&amp;group=387" TargetMode="External"/><Relationship Id="rId2" Type="http://schemas.openxmlformats.org/officeDocument/2006/relationships/hyperlink" Target="https://www.ucf.edu.cu/?p=23105" TargetMode="Externa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infanciayfamilias.castillalamancha.es/que-es-el-sexting" TargetMode="External"/><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gaceta.unadmexico.mx/historico-anual/66-2022/marzo-abril-2022/genero/112-de-que-trata-la-ley-olimpia"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noticiasmanzanillo.com/ten-cuidado-con-el-sexting-y-no-compartas-fotos-o-videos-intimos/" TargetMode="External"/><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2E97077-0D58-4B85-8D3E-51CC0325C4ED}"/>
              </a:ext>
            </a:extLst>
          </p:cNvPr>
          <p:cNvSpPr>
            <a:spLocks noGrp="1"/>
          </p:cNvSpPr>
          <p:nvPr>
            <p:ph type="ctrTitle"/>
          </p:nvPr>
        </p:nvSpPr>
        <p:spPr>
          <a:xfrm>
            <a:off x="1349828" y="1951204"/>
            <a:ext cx="9144000" cy="1219201"/>
          </a:xfrm>
        </p:spPr>
        <p:txBody>
          <a:bodyPr>
            <a:normAutofit fontScale="90000"/>
          </a:bodyPr>
          <a:lstStyle/>
          <a:p>
            <a:r>
              <a:rPr lang="en-US" sz="4000" b="0" i="0" dirty="0" err="1">
                <a:solidFill>
                  <a:srgbClr val="1AAE5C"/>
                </a:solidFill>
                <a:effectLst/>
                <a:latin typeface="Arial" panose="020B0604020202020204" pitchFamily="34" charset="0"/>
                <a:cs typeface="Arial" panose="020B0604020202020204" pitchFamily="34" charset="0"/>
              </a:rPr>
              <a:t>Actividad</a:t>
            </a:r>
            <a:r>
              <a:rPr lang="en-US" sz="4000" b="0" i="0" dirty="0">
                <a:solidFill>
                  <a:srgbClr val="1AAE5C"/>
                </a:solidFill>
                <a:effectLst/>
                <a:latin typeface="Arial" panose="020B0604020202020204" pitchFamily="34" charset="0"/>
                <a:cs typeface="Arial" panose="020B0604020202020204" pitchFamily="34" charset="0"/>
              </a:rPr>
              <a:t> </a:t>
            </a:r>
            <a:r>
              <a:rPr lang="en-US" sz="4000" b="0" i="0" dirty="0" err="1">
                <a:solidFill>
                  <a:srgbClr val="1AAE5C"/>
                </a:solidFill>
                <a:effectLst/>
                <a:latin typeface="Arial" panose="020B0604020202020204" pitchFamily="34" charset="0"/>
                <a:cs typeface="Arial" panose="020B0604020202020204" pitchFamily="34" charset="0"/>
              </a:rPr>
              <a:t>integradora</a:t>
            </a:r>
            <a:r>
              <a:rPr lang="en-US" sz="4000" b="0" i="0" dirty="0">
                <a:solidFill>
                  <a:srgbClr val="1AAE5C"/>
                </a:solidFill>
                <a:effectLst/>
                <a:latin typeface="Arial" panose="020B0604020202020204" pitchFamily="34" charset="0"/>
                <a:cs typeface="Arial" panose="020B0604020202020204" pitchFamily="34" charset="0"/>
              </a:rPr>
              <a:t> 6. </a:t>
            </a:r>
            <a:r>
              <a:rPr lang="en-US" sz="4000" b="0" i="0" dirty="0" err="1">
                <a:solidFill>
                  <a:srgbClr val="1AAE5C"/>
                </a:solidFill>
                <a:effectLst/>
                <a:latin typeface="Arial" panose="020B0604020202020204" pitchFamily="34" charset="0"/>
                <a:cs typeface="Arial" panose="020B0604020202020204" pitchFamily="34" charset="0"/>
              </a:rPr>
              <a:t>Problemas</a:t>
            </a:r>
            <a:r>
              <a:rPr lang="en-US" sz="4000" b="0" i="0" dirty="0">
                <a:solidFill>
                  <a:srgbClr val="1AAE5C"/>
                </a:solidFill>
                <a:effectLst/>
                <a:latin typeface="Arial" panose="020B0604020202020204" pitchFamily="34" charset="0"/>
                <a:cs typeface="Arial" panose="020B0604020202020204" pitchFamily="34" charset="0"/>
              </a:rPr>
              <a:t> </a:t>
            </a:r>
            <a:r>
              <a:rPr lang="en-US" sz="4000" b="0" i="0" dirty="0" err="1">
                <a:solidFill>
                  <a:srgbClr val="1AAE5C"/>
                </a:solidFill>
                <a:effectLst/>
                <a:latin typeface="Arial" panose="020B0604020202020204" pitchFamily="34" charset="0"/>
                <a:cs typeface="Arial" panose="020B0604020202020204" pitchFamily="34" charset="0"/>
              </a:rPr>
              <a:t>sociales</a:t>
            </a:r>
            <a:br>
              <a:rPr lang="en-US" b="0" i="0" dirty="0">
                <a:solidFill>
                  <a:srgbClr val="1AAE5C"/>
                </a:solidFill>
                <a:effectLst/>
                <a:latin typeface="Roboto" panose="02000000000000000000" pitchFamily="2" charset="0"/>
              </a:rPr>
            </a:br>
            <a:endParaRPr lang="en-US" dirty="0"/>
          </a:p>
        </p:txBody>
      </p:sp>
      <p:sp>
        <p:nvSpPr>
          <p:cNvPr id="3" name="Subtítulo 2">
            <a:extLst>
              <a:ext uri="{FF2B5EF4-FFF2-40B4-BE49-F238E27FC236}">
                <a16:creationId xmlns:a16="http://schemas.microsoft.com/office/drawing/2014/main" id="{AD48D53B-4C4C-4A58-9273-1F8ADE913AAE}"/>
              </a:ext>
            </a:extLst>
          </p:cNvPr>
          <p:cNvSpPr>
            <a:spLocks noGrp="1"/>
          </p:cNvSpPr>
          <p:nvPr>
            <p:ph type="subTitle" idx="1"/>
          </p:nvPr>
        </p:nvSpPr>
        <p:spPr>
          <a:xfrm>
            <a:off x="1206953" y="5342920"/>
            <a:ext cx="9144000" cy="1655762"/>
          </a:xfrm>
        </p:spPr>
        <p:txBody>
          <a:bodyPr>
            <a:normAutofit/>
          </a:bodyPr>
          <a:lstStyle/>
          <a:p>
            <a:r>
              <a:rPr lang="es-MX" sz="1400" b="1" dirty="0">
                <a:latin typeface="Arial" panose="020B0604020202020204" pitchFamily="34" charset="0"/>
                <a:cs typeface="Arial" panose="020B0604020202020204" pitchFamily="34" charset="0"/>
              </a:rPr>
              <a:t>7 DE  MARZO DEL 2026</a:t>
            </a:r>
          </a:p>
          <a:p>
            <a:r>
              <a:rPr lang="es-MX" sz="1400" b="1" dirty="0">
                <a:latin typeface="Arial" panose="020B0604020202020204" pitchFamily="34" charset="0"/>
                <a:cs typeface="Arial" panose="020B0604020202020204" pitchFamily="34" charset="0"/>
              </a:rPr>
              <a:t>ANALIA PÉREZ </a:t>
            </a:r>
            <a:r>
              <a:rPr lang="es-MX" sz="1400" b="1" dirty="0" err="1">
                <a:latin typeface="Arial" panose="020B0604020202020204" pitchFamily="34" charset="0"/>
                <a:cs typeface="Arial" panose="020B0604020202020204" pitchFamily="34" charset="0"/>
              </a:rPr>
              <a:t>PÉREZ</a:t>
            </a:r>
            <a:endParaRPr lang="es-MX" sz="1400" b="1" dirty="0">
              <a:latin typeface="Arial" panose="020B0604020202020204" pitchFamily="34" charset="0"/>
              <a:cs typeface="Arial" panose="020B0604020202020204" pitchFamily="34" charset="0"/>
            </a:endParaRPr>
          </a:p>
          <a:p>
            <a:r>
              <a:rPr lang="es-MX" sz="1400" b="1" dirty="0">
                <a:latin typeface="Arial" panose="020B0604020202020204" pitchFamily="34" charset="0"/>
                <a:cs typeface="Arial" panose="020B0604020202020204" pitchFamily="34" charset="0"/>
              </a:rPr>
              <a:t>GRUPO:</a:t>
            </a:r>
            <a:r>
              <a:rPr lang="en-US" sz="1600" b="1" i="0" dirty="0">
                <a:solidFill>
                  <a:srgbClr val="1D2125"/>
                </a:solidFill>
                <a:effectLst/>
                <a:latin typeface="Roboto" panose="02000000000000000000" pitchFamily="2" charset="0"/>
              </a:rPr>
              <a:t>M3C1G82-007</a:t>
            </a:r>
            <a:endParaRPr lang="es-MX" sz="1400" b="1" dirty="0">
              <a:latin typeface="Arial" panose="020B0604020202020204" pitchFamily="34" charset="0"/>
              <a:cs typeface="Arial" panose="020B0604020202020204" pitchFamily="34" charset="0"/>
            </a:endParaRPr>
          </a:p>
          <a:p>
            <a:endParaRPr lang="en-US" sz="1200" dirty="0">
              <a:latin typeface="Arial" panose="020B0604020202020204" pitchFamily="34" charset="0"/>
              <a:cs typeface="Arial" panose="020B0604020202020204" pitchFamily="34" charset="0"/>
            </a:endParaRPr>
          </a:p>
        </p:txBody>
      </p:sp>
      <p:pic>
        <p:nvPicPr>
          <p:cNvPr id="5" name="Picture 143">
            <a:extLst>
              <a:ext uri="{FF2B5EF4-FFF2-40B4-BE49-F238E27FC236}">
                <a16:creationId xmlns:a16="http://schemas.microsoft.com/office/drawing/2014/main" id="{BAC465CB-7C61-4ACE-8905-36A908C2997B}"/>
              </a:ext>
            </a:extLst>
          </p:cNvPr>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4119153" y="78861"/>
            <a:ext cx="3196046" cy="1756229"/>
          </a:xfrm>
          <a:prstGeom prst="rect">
            <a:avLst/>
          </a:prstGeom>
          <a:noFill/>
          <a:ln>
            <a:noFill/>
          </a:ln>
        </p:spPr>
      </p:pic>
      <p:sp>
        <p:nvSpPr>
          <p:cNvPr id="7" name="CuadroTexto 6">
            <a:extLst>
              <a:ext uri="{FF2B5EF4-FFF2-40B4-BE49-F238E27FC236}">
                <a16:creationId xmlns:a16="http://schemas.microsoft.com/office/drawing/2014/main" id="{D0FE1C99-05CC-4BEF-ABD8-70024448EFAA}"/>
              </a:ext>
            </a:extLst>
          </p:cNvPr>
          <p:cNvSpPr txBox="1"/>
          <p:nvPr/>
        </p:nvSpPr>
        <p:spPr>
          <a:xfrm>
            <a:off x="5077095" y="1519888"/>
            <a:ext cx="1280161" cy="400110"/>
          </a:xfrm>
          <a:prstGeom prst="rect">
            <a:avLst/>
          </a:prstGeom>
          <a:noFill/>
        </p:spPr>
        <p:txBody>
          <a:bodyPr wrap="square">
            <a:spAutoFit/>
          </a:bodyPr>
          <a:lstStyle/>
          <a:p>
            <a:r>
              <a:rPr lang="es-MX" sz="2000" dirty="0">
                <a:latin typeface="Arial" panose="020B0604020202020204" pitchFamily="34" charset="0"/>
                <a:cs typeface="Arial" panose="020B0604020202020204" pitchFamily="34" charset="0"/>
              </a:rPr>
              <a:t>Modulo 3</a:t>
            </a:r>
          </a:p>
        </p:txBody>
      </p:sp>
      <p:pic>
        <p:nvPicPr>
          <p:cNvPr id="8" name="Imagen 7" descr="Prepa en Línea SEP added a new photo. - Prepa en Línea SEP">
            <a:extLst>
              <a:ext uri="{FF2B5EF4-FFF2-40B4-BE49-F238E27FC236}">
                <a16:creationId xmlns:a16="http://schemas.microsoft.com/office/drawing/2014/main" id="{453E4216-428F-46D7-A329-C9B099CFCA85}"/>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4215765" y="2656236"/>
            <a:ext cx="3126376" cy="2539515"/>
          </a:xfrm>
          <a:prstGeom prst="rect">
            <a:avLst/>
          </a:prstGeom>
          <a:noFill/>
          <a:ln>
            <a:noFill/>
          </a:ln>
        </p:spPr>
      </p:pic>
    </p:spTree>
    <p:extLst>
      <p:ext uri="{BB962C8B-B14F-4D97-AF65-F5344CB8AC3E}">
        <p14:creationId xmlns:p14="http://schemas.microsoft.com/office/powerpoint/2010/main" val="23533652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376C6250-B545-4398-8470-F290DF099ECA}"/>
              </a:ext>
            </a:extLst>
          </p:cNvPr>
          <p:cNvSpPr>
            <a:spLocks noGrp="1"/>
          </p:cNvSpPr>
          <p:nvPr>
            <p:ph idx="1"/>
          </p:nvPr>
        </p:nvSpPr>
        <p:spPr>
          <a:xfrm>
            <a:off x="246017" y="928642"/>
            <a:ext cx="10515600" cy="4351338"/>
          </a:xfrm>
        </p:spPr>
        <p:txBody>
          <a:bodyPr>
            <a:normAutofit lnSpcReduction="10000"/>
          </a:bodyPr>
          <a:lstStyle/>
          <a:p>
            <a:pPr marL="0" indent="0">
              <a:buNone/>
            </a:pPr>
            <a:r>
              <a:rPr lang="es-MX" b="1" dirty="0">
                <a:solidFill>
                  <a:schemeClr val="accent2">
                    <a:lumMod val="75000"/>
                  </a:schemeClr>
                </a:solidFill>
              </a:rPr>
              <a:t>PROBLEMA SOCIAL</a:t>
            </a:r>
          </a:p>
          <a:p>
            <a:pPr>
              <a:buFont typeface="Wingdings" panose="05000000000000000000" pitchFamily="2" charset="2"/>
              <a:buChar char="Ø"/>
            </a:pPr>
            <a:r>
              <a:rPr lang="es-MX" dirty="0"/>
              <a:t>Sexting. Difusión de fotos intimas sin el consentimiento de la otra persona</a:t>
            </a:r>
          </a:p>
          <a:p>
            <a:endParaRPr lang="es-MX" dirty="0"/>
          </a:p>
          <a:p>
            <a:pPr marL="0" indent="0">
              <a:buNone/>
            </a:pPr>
            <a:r>
              <a:rPr lang="es-MX" b="1" dirty="0">
                <a:solidFill>
                  <a:schemeClr val="accent2">
                    <a:lumMod val="75000"/>
                  </a:schemeClr>
                </a:solidFill>
              </a:rPr>
              <a:t>JUSTIFICACION DEL PROBLEMA</a:t>
            </a:r>
          </a:p>
          <a:p>
            <a:pPr algn="just">
              <a:buFont typeface="Wingdings" panose="05000000000000000000" pitchFamily="2" charset="2"/>
              <a:buChar char="Ø"/>
            </a:pPr>
            <a:r>
              <a:rPr lang="es-MX" dirty="0"/>
              <a:t>Porque se atenta contra la privacidad y la intimidad de la otra persona, la cual al ser expuesta será afectada en muchos ámbitos pero principalmente en el ámbito emocional, la cual sino se trata con un especialista, puede desencadenar muchos problemas en la persona e incluso en el peor de los casos en el suicidio.</a:t>
            </a:r>
            <a:endParaRPr lang="en-US" dirty="0"/>
          </a:p>
        </p:txBody>
      </p:sp>
    </p:spTree>
    <p:extLst>
      <p:ext uri="{BB962C8B-B14F-4D97-AF65-F5344CB8AC3E}">
        <p14:creationId xmlns:p14="http://schemas.microsoft.com/office/powerpoint/2010/main" val="21754017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9B018EB-8F7A-4212-9BAA-60F8CBC5D854}"/>
              </a:ext>
            </a:extLst>
          </p:cNvPr>
          <p:cNvSpPr>
            <a:spLocks noGrp="1"/>
          </p:cNvSpPr>
          <p:nvPr>
            <p:ph type="title"/>
          </p:nvPr>
        </p:nvSpPr>
        <p:spPr>
          <a:xfrm>
            <a:off x="5129347" y="4302034"/>
            <a:ext cx="6766561" cy="2455817"/>
          </a:xfrm>
        </p:spPr>
        <p:txBody>
          <a:bodyPr>
            <a:normAutofit/>
          </a:bodyPr>
          <a:lstStyle/>
          <a:p>
            <a:r>
              <a:rPr lang="es-MX" sz="1200" dirty="0">
                <a:latin typeface="Arial" panose="020B0604020202020204" pitchFamily="34" charset="0"/>
                <a:cs typeface="Arial" panose="020B0604020202020204" pitchFamily="34" charset="0"/>
              </a:rPr>
              <a:t>En esta imagen se puede ver como una mujer se toma una foto desnuda  </a:t>
            </a:r>
            <a:br>
              <a:rPr lang="es-MX" sz="1200" dirty="0">
                <a:latin typeface="Arial" panose="020B0604020202020204" pitchFamily="34" charset="0"/>
                <a:cs typeface="Arial" panose="020B0604020202020204" pitchFamily="34" charset="0"/>
              </a:rPr>
            </a:br>
            <a:r>
              <a:rPr lang="es-MX" sz="1800" dirty="0">
                <a:effectLst/>
                <a:latin typeface="Calibri" panose="020F0502020204030204" pitchFamily="34" charset="0"/>
                <a:ea typeface="Calibri" panose="020F0502020204030204" pitchFamily="34" charset="0"/>
                <a:cs typeface="Times New Roman" panose="02020603050405020304" pitchFamily="18" charset="0"/>
              </a:rPr>
              <a:t>UNICEF. (s.f.). </a:t>
            </a:r>
            <a:r>
              <a:rPr lang="es-MX" sz="1800" i="1" dirty="0">
                <a:effectLst/>
                <a:latin typeface="Calibri" panose="020F0502020204030204" pitchFamily="34" charset="0"/>
                <a:ea typeface="Calibri" panose="020F0502020204030204" pitchFamily="34" charset="0"/>
                <a:cs typeface="Times New Roman" panose="02020603050405020304" pitchFamily="18" charset="0"/>
              </a:rPr>
              <a:t>Sexting y riesgos en internet</a:t>
            </a:r>
            <a:r>
              <a:rPr lang="es-MX" sz="1800" dirty="0">
                <a:effectLst/>
                <a:latin typeface="Calibri" panose="020F0502020204030204" pitchFamily="34" charset="0"/>
                <a:ea typeface="Calibri" panose="020F0502020204030204" pitchFamily="34" charset="0"/>
                <a:cs typeface="Times New Roman" panose="02020603050405020304" pitchFamily="18" charset="0"/>
              </a:rPr>
              <a:t>.  </a:t>
            </a:r>
            <a:r>
              <a:rPr lang="es-MX" sz="1800" u="sng" dirty="0">
                <a:solidFill>
                  <a:srgbClr val="0000FF"/>
                </a:solidFill>
                <a:effectLst/>
                <a:latin typeface="Calibri" panose="020F0502020204030204" pitchFamily="34" charset="0"/>
                <a:ea typeface="Calibri" panose="020F0502020204030204" pitchFamily="34" charset="0"/>
                <a:cs typeface="Times New Roman" panose="02020603050405020304" pitchFamily="18" charset="0"/>
                <a:hlinkClick r:id="rId2"/>
              </a:rPr>
              <a:t>https://www.unicef.org</a:t>
            </a:r>
            <a:br>
              <a:rPr lang="es-MX" sz="1800" u="sng" dirty="0">
                <a:solidFill>
                  <a:srgbClr val="0000FF"/>
                </a:solidFill>
                <a:latin typeface="Calibri" panose="020F0502020204030204" pitchFamily="34" charset="0"/>
                <a:ea typeface="Calibri" panose="020F0502020204030204" pitchFamily="34" charset="0"/>
                <a:cs typeface="Times New Roman" panose="02020603050405020304" pitchFamily="18" charset="0"/>
              </a:rPr>
            </a:br>
            <a:br>
              <a:rPr lang="es-MX" sz="1800" u="sng" dirty="0">
                <a:solidFill>
                  <a:srgbClr val="0000FF"/>
                </a:solidFill>
                <a:latin typeface="Calibri" panose="020F0502020204030204" pitchFamily="34" charset="0"/>
                <a:ea typeface="Calibri" panose="020F0502020204030204" pitchFamily="34" charset="0"/>
                <a:cs typeface="Times New Roman" panose="02020603050405020304" pitchFamily="18" charset="0"/>
              </a:rPr>
            </a:br>
            <a:br>
              <a:rPr lang="es-MX" sz="1800" u="sng" dirty="0">
                <a:solidFill>
                  <a:srgbClr val="0000FF"/>
                </a:solidFill>
                <a:latin typeface="Calibri" panose="020F0502020204030204" pitchFamily="34" charset="0"/>
                <a:ea typeface="Calibri" panose="020F0502020204030204" pitchFamily="34" charset="0"/>
                <a:cs typeface="Times New Roman" panose="02020603050405020304" pitchFamily="18" charset="0"/>
              </a:rPr>
            </a:br>
            <a:r>
              <a:rPr lang="es-MX" sz="1800" dirty="0">
                <a:effectLst/>
                <a:latin typeface="Calibri" panose="020F0502020204030204" pitchFamily="34" charset="0"/>
                <a:ea typeface="Calibri" panose="020F0502020204030204" pitchFamily="34" charset="0"/>
                <a:cs typeface="Times New Roman" panose="02020603050405020304" pitchFamily="18" charset="0"/>
              </a:rPr>
              <a:t>Analía Pérez Pérez</a:t>
            </a:r>
            <a:br>
              <a:rPr lang="es-MX" sz="1800" u="sng" dirty="0">
                <a:solidFill>
                  <a:srgbClr val="0000FF"/>
                </a:solidFill>
                <a:effectLst/>
                <a:latin typeface="Calibri" panose="020F0502020204030204" pitchFamily="34" charset="0"/>
                <a:ea typeface="Calibri" panose="020F0502020204030204" pitchFamily="34" charset="0"/>
                <a:cs typeface="Times New Roman" panose="02020603050405020304" pitchFamily="18" charset="0"/>
              </a:rPr>
            </a:br>
            <a:br>
              <a:rPr lang="es-MX" sz="1200" dirty="0">
                <a:latin typeface="Arial" panose="020B0604020202020204" pitchFamily="34" charset="0"/>
                <a:cs typeface="Arial" panose="020B0604020202020204" pitchFamily="34" charset="0"/>
              </a:rPr>
            </a:br>
            <a:br>
              <a:rPr lang="es-MX" sz="1200" dirty="0">
                <a:latin typeface="Arial" panose="020B0604020202020204" pitchFamily="34" charset="0"/>
                <a:cs typeface="Arial" panose="020B0604020202020204" pitchFamily="34" charset="0"/>
              </a:rPr>
            </a:br>
            <a:br>
              <a:rPr lang="es-MX" sz="1200" dirty="0">
                <a:latin typeface="Arial" panose="020B0604020202020204" pitchFamily="34" charset="0"/>
                <a:cs typeface="Arial" panose="020B0604020202020204" pitchFamily="34" charset="0"/>
              </a:rPr>
            </a:br>
            <a:br>
              <a:rPr lang="es-MX" sz="1200" dirty="0">
                <a:latin typeface="Arial" panose="020B0604020202020204" pitchFamily="34" charset="0"/>
                <a:cs typeface="Arial" panose="020B0604020202020204" pitchFamily="34" charset="0"/>
              </a:rPr>
            </a:br>
            <a:endParaRPr lang="en-US" sz="1200" dirty="0">
              <a:latin typeface="Arial" panose="020B0604020202020204" pitchFamily="34" charset="0"/>
              <a:cs typeface="Arial" panose="020B0604020202020204" pitchFamily="34" charset="0"/>
            </a:endParaRPr>
          </a:p>
        </p:txBody>
      </p:sp>
      <p:pic>
        <p:nvPicPr>
          <p:cNvPr id="4" name="Marcador de contenido 3">
            <a:extLst>
              <a:ext uri="{FF2B5EF4-FFF2-40B4-BE49-F238E27FC236}">
                <a16:creationId xmlns:a16="http://schemas.microsoft.com/office/drawing/2014/main" id="{99A0D2F5-EE05-4541-8A57-5CC22E5BA014}"/>
              </a:ext>
            </a:extLst>
          </p:cNvPr>
          <p:cNvPicPr>
            <a:picLocks noGrp="1"/>
          </p:cNvPicPr>
          <p:nvPr>
            <p:ph idx="1"/>
          </p:nvPr>
        </p:nvPicPr>
        <p:blipFill>
          <a:blip r:embed="rId3">
            <a:extLst>
              <a:ext uri="{28A0092B-C50C-407E-A947-70E740481C1C}">
                <a14:useLocalDpi xmlns:a14="http://schemas.microsoft.com/office/drawing/2010/main" val="0"/>
              </a:ext>
            </a:extLst>
          </a:blip>
          <a:stretch>
            <a:fillRect/>
          </a:stretch>
        </p:blipFill>
        <p:spPr>
          <a:xfrm>
            <a:off x="284390" y="409575"/>
            <a:ext cx="4749164" cy="6195876"/>
          </a:xfrm>
          <a:prstGeom prst="rect">
            <a:avLst/>
          </a:prstGeom>
          <a:ln>
            <a:noFill/>
          </a:ln>
          <a:effectLst>
            <a:softEdge rad="112500"/>
          </a:effectLst>
        </p:spPr>
      </p:pic>
      <p:cxnSp>
        <p:nvCxnSpPr>
          <p:cNvPr id="6" name="Conector recto de flecha 5">
            <a:extLst>
              <a:ext uri="{FF2B5EF4-FFF2-40B4-BE49-F238E27FC236}">
                <a16:creationId xmlns:a16="http://schemas.microsoft.com/office/drawing/2014/main" id="{6B8E23A4-783E-402B-AB3A-1BBDB4CA554B}"/>
              </a:ext>
            </a:extLst>
          </p:cNvPr>
          <p:cNvCxnSpPr/>
          <p:nvPr/>
        </p:nvCxnSpPr>
        <p:spPr>
          <a:xfrm>
            <a:off x="5033554" y="1471749"/>
            <a:ext cx="2055223" cy="269965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5568434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D67F9AC-13A7-4CE1-944C-7BD12B4FFB5C}"/>
              </a:ext>
            </a:extLst>
          </p:cNvPr>
          <p:cNvSpPr>
            <a:spLocks noGrp="1"/>
          </p:cNvSpPr>
          <p:nvPr>
            <p:ph type="title"/>
          </p:nvPr>
        </p:nvSpPr>
        <p:spPr>
          <a:xfrm>
            <a:off x="5399315" y="3428999"/>
            <a:ext cx="6407331" cy="4173583"/>
          </a:xfrm>
        </p:spPr>
        <p:txBody>
          <a:bodyPr>
            <a:normAutofit/>
          </a:bodyPr>
          <a:lstStyle/>
          <a:p>
            <a:pPr rtl="0">
              <a:spcBef>
                <a:spcPts val="0"/>
              </a:spcBef>
              <a:spcAft>
                <a:spcPts val="0"/>
              </a:spcAft>
            </a:pPr>
            <a:r>
              <a:rPr lang="es-MX" sz="1200" dirty="0">
                <a:latin typeface="Arial" panose="020B0604020202020204" pitchFamily="34" charset="0"/>
                <a:cs typeface="Arial" panose="020B0604020202020204" pitchFamily="34" charset="0"/>
              </a:rPr>
              <a:t>En este celular se puede ver como una joven se toma una foto intima y le comparte a otra persona</a:t>
            </a:r>
            <a:br>
              <a:rPr lang="es-MX" sz="1200" dirty="0">
                <a:latin typeface="Arial" panose="020B0604020202020204" pitchFamily="34" charset="0"/>
                <a:cs typeface="Arial" panose="020B0604020202020204" pitchFamily="34" charset="0"/>
              </a:rPr>
            </a:br>
            <a:br>
              <a:rPr lang="es-MX" sz="1200" dirty="0">
                <a:latin typeface="Arial" panose="020B0604020202020204" pitchFamily="34" charset="0"/>
                <a:cs typeface="Arial" panose="020B0604020202020204" pitchFamily="34" charset="0"/>
              </a:rPr>
            </a:br>
            <a:r>
              <a:rPr lang="es-MX" sz="1200" b="1" i="0" u="none" strike="noStrike" dirty="0" err="1">
                <a:solidFill>
                  <a:srgbClr val="000000"/>
                </a:solidFill>
                <a:effectLst/>
                <a:latin typeface="Arial" panose="020B0604020202020204" pitchFamily="34" charset="0"/>
                <a:cs typeface="Arial" panose="020B0604020202020204" pitchFamily="34" charset="0"/>
              </a:rPr>
              <a:t>ADSLZone</a:t>
            </a:r>
            <a:r>
              <a:rPr lang="es-MX" sz="1200" b="1" i="0" u="none" strike="noStrike" dirty="0">
                <a:solidFill>
                  <a:srgbClr val="000000"/>
                </a:solidFill>
                <a:effectLst/>
                <a:latin typeface="Arial" panose="020B0604020202020204" pitchFamily="34" charset="0"/>
                <a:cs typeface="Arial" panose="020B0604020202020204" pitchFamily="34" charset="0"/>
              </a:rPr>
              <a:t>. (7 de noviembre de 2024). Qué pasa al usar fotos sin permiso del autor.</a:t>
            </a:r>
            <a:r>
              <a:rPr lang="es-MX" sz="1200" b="1" i="0" u="none" strike="noStrike" dirty="0">
                <a:solidFill>
                  <a:srgbClr val="000000"/>
                </a:solidFill>
                <a:effectLst/>
                <a:latin typeface="Arial" panose="020B0604020202020204" pitchFamily="34" charset="0"/>
                <a:cs typeface="Arial" panose="020B0604020202020204" pitchFamily="34" charset="0"/>
                <a:hlinkClick r:id="rId2"/>
              </a:rPr>
              <a:t> </a:t>
            </a:r>
            <a:r>
              <a:rPr lang="es-MX" sz="1200" b="1" i="0" u="sng" strike="noStrike" dirty="0">
                <a:solidFill>
                  <a:srgbClr val="0000FF"/>
                </a:solidFill>
                <a:effectLst/>
                <a:latin typeface="Arial" panose="020B0604020202020204" pitchFamily="34" charset="0"/>
                <a:cs typeface="Arial" panose="020B0604020202020204" pitchFamily="34" charset="0"/>
                <a:hlinkClick r:id="rId2"/>
              </a:rPr>
              <a:t>https://www.adslzone.net/reportajes/privacidad/derechos-autor-fotos-internet/</a:t>
            </a:r>
            <a:r>
              <a:rPr lang="es-MX" sz="1200" b="1" i="0" u="none" strike="noStrike" dirty="0">
                <a:solidFill>
                  <a:srgbClr val="222222"/>
                </a:solidFill>
                <a:effectLst/>
                <a:latin typeface="Arial" panose="020B0604020202020204" pitchFamily="34" charset="0"/>
                <a:cs typeface="Arial" panose="020B0604020202020204" pitchFamily="34" charset="0"/>
              </a:rPr>
              <a:t> </a:t>
            </a:r>
            <a:br>
              <a:rPr lang="es-MX" sz="1200" b="1" i="0" u="none" strike="noStrike" dirty="0">
                <a:solidFill>
                  <a:srgbClr val="222222"/>
                </a:solidFill>
                <a:effectLst/>
                <a:latin typeface="Arial" panose="020B0604020202020204" pitchFamily="34" charset="0"/>
                <a:cs typeface="Arial" panose="020B0604020202020204" pitchFamily="34" charset="0"/>
              </a:rPr>
            </a:br>
            <a:br>
              <a:rPr lang="es-MX" sz="1200" b="1" i="0" u="none" strike="noStrike" dirty="0">
                <a:solidFill>
                  <a:srgbClr val="222222"/>
                </a:solidFill>
                <a:effectLst/>
                <a:latin typeface="Arial" panose="020B0604020202020204" pitchFamily="34" charset="0"/>
                <a:cs typeface="Arial" panose="020B0604020202020204" pitchFamily="34" charset="0"/>
              </a:rPr>
            </a:br>
            <a:r>
              <a:rPr lang="es-MX" sz="1800" b="0" i="0" u="none" strike="noStrike" dirty="0">
                <a:solidFill>
                  <a:srgbClr val="000000"/>
                </a:solidFill>
                <a:effectLst/>
                <a:latin typeface="Calibri" panose="020F0502020204030204" pitchFamily="34" charset="0"/>
              </a:rPr>
              <a:t>Joan </a:t>
            </a:r>
            <a:r>
              <a:rPr lang="es-MX" sz="1800" b="0" i="0" u="none" strike="noStrike" dirty="0" err="1">
                <a:solidFill>
                  <a:srgbClr val="000000"/>
                </a:solidFill>
                <a:effectLst/>
                <a:latin typeface="Calibri" panose="020F0502020204030204" pitchFamily="34" charset="0"/>
              </a:rPr>
              <a:t>Sebastian</a:t>
            </a:r>
            <a:r>
              <a:rPr lang="es-MX" sz="1800" b="0" i="0" u="none" strike="noStrike" dirty="0">
                <a:solidFill>
                  <a:srgbClr val="000000"/>
                </a:solidFill>
                <a:effectLst/>
                <a:latin typeface="Calibri" panose="020F0502020204030204" pitchFamily="34" charset="0"/>
              </a:rPr>
              <a:t> </a:t>
            </a:r>
            <a:r>
              <a:rPr lang="es-MX" sz="1800" b="0" i="0" u="none" strike="noStrike" dirty="0" err="1">
                <a:solidFill>
                  <a:srgbClr val="000000"/>
                </a:solidFill>
                <a:effectLst/>
                <a:latin typeface="Calibri" panose="020F0502020204030204" pitchFamily="34" charset="0"/>
              </a:rPr>
              <a:t>Vazquez</a:t>
            </a:r>
            <a:r>
              <a:rPr lang="es-MX" sz="1800" b="0" i="0" u="none" strike="noStrike" dirty="0">
                <a:solidFill>
                  <a:srgbClr val="000000"/>
                </a:solidFill>
                <a:effectLst/>
                <a:latin typeface="Calibri" panose="020F0502020204030204" pitchFamily="34" charset="0"/>
              </a:rPr>
              <a:t> Izaguirre </a:t>
            </a:r>
            <a:br>
              <a:rPr lang="es-MX" sz="800" b="0" dirty="0">
                <a:effectLst/>
              </a:rPr>
            </a:br>
            <a:r>
              <a:rPr lang="es-MX" sz="1800" b="0" i="0" u="sng" strike="noStrike" dirty="0">
                <a:solidFill>
                  <a:srgbClr val="0000FF"/>
                </a:solidFill>
                <a:effectLst/>
                <a:latin typeface="Arial" panose="020B0604020202020204" pitchFamily="34" charset="0"/>
                <a:hlinkClick r:id="rId3"/>
              </a:rPr>
              <a:t>M3C1G81-007</a:t>
            </a:r>
            <a:br>
              <a:rPr lang="es-MX" sz="800" b="0" dirty="0">
                <a:effectLst/>
              </a:rPr>
            </a:br>
            <a:br>
              <a:rPr lang="es-MX" sz="800" dirty="0"/>
            </a:br>
            <a:br>
              <a:rPr lang="es-MX" sz="1200" b="0" dirty="0">
                <a:effectLst/>
                <a:latin typeface="Arial" panose="020B0604020202020204" pitchFamily="34" charset="0"/>
                <a:cs typeface="Arial" panose="020B0604020202020204" pitchFamily="34" charset="0"/>
              </a:rPr>
            </a:br>
            <a:br>
              <a:rPr lang="es-MX" sz="1200" dirty="0">
                <a:latin typeface="Arial" panose="020B0604020202020204" pitchFamily="34" charset="0"/>
                <a:cs typeface="Arial" panose="020B0604020202020204" pitchFamily="34" charset="0"/>
              </a:rPr>
            </a:br>
            <a:endParaRPr lang="en-US" sz="1200" dirty="0">
              <a:latin typeface="Arial" panose="020B0604020202020204" pitchFamily="34" charset="0"/>
              <a:cs typeface="Arial" panose="020B0604020202020204" pitchFamily="34" charset="0"/>
            </a:endParaRPr>
          </a:p>
        </p:txBody>
      </p:sp>
      <p:pic>
        <p:nvPicPr>
          <p:cNvPr id="13" name="Marcador de contenido 12">
            <a:extLst>
              <a:ext uri="{FF2B5EF4-FFF2-40B4-BE49-F238E27FC236}">
                <a16:creationId xmlns:a16="http://schemas.microsoft.com/office/drawing/2014/main" id="{AEA68ABE-0338-49B3-8B9B-516FD4FD19E2}"/>
              </a:ext>
            </a:extLst>
          </p:cNvPr>
          <p:cNvPicPr>
            <a:picLocks noGrp="1"/>
          </p:cNvPicPr>
          <p:nvPr>
            <p:ph idx="1"/>
          </p:nvPr>
        </p:nvPicPr>
        <p:blipFill>
          <a:blip r:embed="rId4"/>
          <a:stretch>
            <a:fillRect/>
          </a:stretch>
        </p:blipFill>
        <p:spPr>
          <a:xfrm>
            <a:off x="199596" y="477428"/>
            <a:ext cx="4788081" cy="5903141"/>
          </a:xfrm>
          <a:prstGeom prst="rect">
            <a:avLst/>
          </a:prstGeom>
          <a:ln>
            <a:noFill/>
          </a:ln>
          <a:effectLst>
            <a:outerShdw blurRad="292100" dist="139700" dir="2700000" algn="tl" rotWithShape="0">
              <a:srgbClr val="333333">
                <a:alpha val="65000"/>
              </a:srgbClr>
            </a:outerShdw>
          </a:effectLst>
        </p:spPr>
      </p:pic>
      <p:cxnSp>
        <p:nvCxnSpPr>
          <p:cNvPr id="7" name="Conector recto de flecha 6">
            <a:extLst>
              <a:ext uri="{FF2B5EF4-FFF2-40B4-BE49-F238E27FC236}">
                <a16:creationId xmlns:a16="http://schemas.microsoft.com/office/drawing/2014/main" id="{F1B3A329-04E6-4FE6-B780-95C8815895F7}"/>
              </a:ext>
            </a:extLst>
          </p:cNvPr>
          <p:cNvCxnSpPr/>
          <p:nvPr/>
        </p:nvCxnSpPr>
        <p:spPr>
          <a:xfrm>
            <a:off x="5303636" y="1132114"/>
            <a:ext cx="2264113" cy="3074126"/>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20226083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999BB78-AAEF-478B-8F74-E7465A707E22}"/>
              </a:ext>
            </a:extLst>
          </p:cNvPr>
          <p:cNvSpPr>
            <a:spLocks noGrp="1"/>
          </p:cNvSpPr>
          <p:nvPr>
            <p:ph type="title"/>
          </p:nvPr>
        </p:nvSpPr>
        <p:spPr>
          <a:xfrm>
            <a:off x="6096000" y="4484279"/>
            <a:ext cx="4892040" cy="1872978"/>
          </a:xfrm>
        </p:spPr>
        <p:txBody>
          <a:bodyPr>
            <a:normAutofit/>
          </a:bodyPr>
          <a:lstStyle/>
          <a:p>
            <a:pPr rtl="0">
              <a:spcBef>
                <a:spcPts val="0"/>
              </a:spcBef>
              <a:spcAft>
                <a:spcPts val="1200"/>
              </a:spcAft>
            </a:pPr>
            <a:r>
              <a:rPr lang="es-MX" sz="1200" dirty="0">
                <a:latin typeface="Arial" panose="020B0604020202020204" pitchFamily="34" charset="0"/>
                <a:cs typeface="Arial" panose="020B0604020202020204" pitchFamily="34" charset="0"/>
              </a:rPr>
              <a:t>En esta imagen se puede ver como un joven se toma una foto de sus partes intimas</a:t>
            </a:r>
            <a:br>
              <a:rPr lang="es-MX" sz="1200" dirty="0">
                <a:latin typeface="Arial" panose="020B0604020202020204" pitchFamily="34" charset="0"/>
                <a:cs typeface="Arial" panose="020B0604020202020204" pitchFamily="34" charset="0"/>
              </a:rPr>
            </a:br>
            <a:br>
              <a:rPr lang="es-MX" sz="1200" dirty="0">
                <a:latin typeface="Arial" panose="020B0604020202020204" pitchFamily="34" charset="0"/>
                <a:cs typeface="Arial" panose="020B0604020202020204" pitchFamily="34" charset="0"/>
              </a:rPr>
            </a:br>
            <a:r>
              <a:rPr lang="es-MX" sz="1200" b="0" i="0" u="none" strike="noStrike" dirty="0">
                <a:solidFill>
                  <a:srgbClr val="212121"/>
                </a:solidFill>
                <a:effectLst/>
                <a:latin typeface="Arial" panose="020B0604020202020204" pitchFamily="34" charset="0"/>
                <a:cs typeface="Arial" panose="020B0604020202020204" pitchFamily="34" charset="0"/>
              </a:rPr>
              <a:t>Carlos (</a:t>
            </a:r>
            <a:r>
              <a:rPr lang="es-MX" sz="1200" b="0" i="0" u="none" strike="noStrike" dirty="0" err="1">
                <a:solidFill>
                  <a:srgbClr val="212121"/>
                </a:solidFill>
                <a:effectLst/>
                <a:latin typeface="Arial" panose="020B0604020202020204" pitchFamily="34" charset="0"/>
                <a:cs typeface="Arial" panose="020B0604020202020204" pitchFamily="34" charset="0"/>
              </a:rPr>
              <a:t>s,f</a:t>
            </a:r>
            <a:r>
              <a:rPr lang="es-MX" sz="1200" b="0" i="0" u="none" strike="noStrike" dirty="0">
                <a:solidFill>
                  <a:srgbClr val="212121"/>
                </a:solidFill>
                <a:effectLst/>
                <a:latin typeface="Arial" panose="020B0604020202020204" pitchFamily="34" charset="0"/>
                <a:cs typeface="Arial" panose="020B0604020202020204" pitchFamily="34" charset="0"/>
              </a:rPr>
              <a:t>)”</a:t>
            </a:r>
            <a:r>
              <a:rPr lang="es-MX" sz="1200" b="0" i="0" u="none" strike="noStrike" dirty="0" err="1">
                <a:solidFill>
                  <a:srgbClr val="212121"/>
                </a:solidFill>
                <a:effectLst/>
                <a:latin typeface="Arial" panose="020B0604020202020204" pitchFamily="34" charset="0"/>
                <a:cs typeface="Arial" panose="020B0604020202020204" pitchFamily="34" charset="0"/>
              </a:rPr>
              <a:t>Origen,Evolución</a:t>
            </a:r>
            <a:r>
              <a:rPr lang="es-MX" sz="1200" b="0" i="0" u="none" strike="noStrike" dirty="0">
                <a:solidFill>
                  <a:srgbClr val="212121"/>
                </a:solidFill>
                <a:effectLst/>
                <a:latin typeface="Arial" panose="020B0604020202020204" pitchFamily="34" charset="0"/>
                <a:cs typeface="Arial" panose="020B0604020202020204" pitchFamily="34" charset="0"/>
              </a:rPr>
              <a:t> Y riego para los adolescentes y </a:t>
            </a:r>
            <a:r>
              <a:rPr lang="es-MX" sz="1200" b="0" i="0" u="none" strike="noStrike" dirty="0" err="1">
                <a:solidFill>
                  <a:srgbClr val="212121"/>
                </a:solidFill>
                <a:effectLst/>
                <a:latin typeface="Arial" panose="020B0604020202020204" pitchFamily="34" charset="0"/>
                <a:cs typeface="Arial" panose="020B0604020202020204" pitchFamily="34" charset="0"/>
              </a:rPr>
              <a:t>jóvenes.”</a:t>
            </a:r>
            <a:r>
              <a:rPr lang="es-MX" sz="1200" b="0" i="0" u="sng" strike="noStrike" dirty="0" err="1">
                <a:solidFill>
                  <a:srgbClr val="DB4437"/>
                </a:solidFill>
                <a:effectLst/>
                <a:latin typeface="Arial" panose="020B0604020202020204" pitchFamily="34" charset="0"/>
                <a:cs typeface="Arial" panose="020B0604020202020204" pitchFamily="34" charset="0"/>
                <a:hlinkClick r:id="rId2"/>
              </a:rPr>
              <a:t>https</a:t>
            </a:r>
            <a:r>
              <a:rPr lang="es-MX" sz="1200" b="0" i="0" u="sng" strike="noStrike" dirty="0">
                <a:solidFill>
                  <a:srgbClr val="DB4437"/>
                </a:solidFill>
                <a:effectLst/>
                <a:latin typeface="Arial" panose="020B0604020202020204" pitchFamily="34" charset="0"/>
                <a:cs typeface="Arial" panose="020B0604020202020204" pitchFamily="34" charset="0"/>
                <a:hlinkClick r:id="rId2"/>
              </a:rPr>
              <a:t>://www.ucf.edu.cu/?p=23105</a:t>
            </a:r>
            <a:br>
              <a:rPr lang="es-MX" sz="1200" b="0" dirty="0">
                <a:effectLst/>
                <a:latin typeface="Arial" panose="020B0604020202020204" pitchFamily="34" charset="0"/>
                <a:cs typeface="Arial" panose="020B0604020202020204" pitchFamily="34" charset="0"/>
              </a:rPr>
            </a:br>
            <a:br>
              <a:rPr lang="es-MX" sz="800" dirty="0"/>
            </a:br>
            <a:r>
              <a:rPr lang="en-US" sz="1200" b="0" i="0" u="none" strike="noStrike" dirty="0">
                <a:solidFill>
                  <a:srgbClr val="000000"/>
                </a:solidFill>
                <a:effectLst/>
                <a:latin typeface="Arial" panose="020B0604020202020204" pitchFamily="34" charset="0"/>
                <a:cs typeface="Arial" panose="020B0604020202020204" pitchFamily="34" charset="0"/>
              </a:rPr>
              <a:t>Ayala Rojas </a:t>
            </a:r>
            <a:r>
              <a:rPr lang="en-US" sz="1200" b="0" i="0" u="none" strike="noStrike" dirty="0" err="1">
                <a:solidFill>
                  <a:srgbClr val="000000"/>
                </a:solidFill>
                <a:effectLst/>
                <a:latin typeface="Arial" panose="020B0604020202020204" pitchFamily="34" charset="0"/>
                <a:cs typeface="Arial" panose="020B0604020202020204" pitchFamily="34" charset="0"/>
              </a:rPr>
              <a:t>Missuri</a:t>
            </a:r>
            <a:r>
              <a:rPr lang="en-US" sz="1200" b="0" i="0" u="none" strike="noStrike" dirty="0">
                <a:solidFill>
                  <a:srgbClr val="000000"/>
                </a:solidFill>
                <a:effectLst/>
                <a:latin typeface="Arial" panose="020B0604020202020204" pitchFamily="34" charset="0"/>
                <a:cs typeface="Arial" panose="020B0604020202020204" pitchFamily="34" charset="0"/>
              </a:rPr>
              <a:t>.</a:t>
            </a:r>
            <a:br>
              <a:rPr lang="en-US" sz="1200" b="0" i="0" u="none" strike="noStrike" dirty="0">
                <a:solidFill>
                  <a:srgbClr val="000000"/>
                </a:solidFill>
                <a:effectLst/>
                <a:latin typeface="Arial" panose="020B0604020202020204" pitchFamily="34" charset="0"/>
                <a:cs typeface="Arial" panose="020B0604020202020204" pitchFamily="34" charset="0"/>
              </a:rPr>
            </a:br>
            <a:r>
              <a:rPr lang="es-MX" sz="1200" b="0" i="0" u="sng" strike="noStrike" dirty="0">
                <a:solidFill>
                  <a:srgbClr val="0000FF"/>
                </a:solidFill>
                <a:effectLst/>
                <a:latin typeface="Arial" panose="020B0604020202020204" pitchFamily="34" charset="0"/>
                <a:hlinkClick r:id="rId3"/>
              </a:rPr>
              <a:t>M3C1G81-007</a:t>
            </a:r>
            <a:endParaRPr lang="en-US" sz="1200" u="sng" dirty="0">
              <a:latin typeface="Arial" panose="020B0604020202020204" pitchFamily="34" charset="0"/>
              <a:cs typeface="Arial" panose="020B0604020202020204" pitchFamily="34" charset="0"/>
            </a:endParaRPr>
          </a:p>
        </p:txBody>
      </p:sp>
      <p:pic>
        <p:nvPicPr>
          <p:cNvPr id="8" name="Marcador de contenido 7">
            <a:extLst>
              <a:ext uri="{FF2B5EF4-FFF2-40B4-BE49-F238E27FC236}">
                <a16:creationId xmlns:a16="http://schemas.microsoft.com/office/drawing/2014/main" id="{0347620A-8F33-44FC-A91E-DDDD6C1C742E}"/>
              </a:ext>
            </a:extLst>
          </p:cNvPr>
          <p:cNvPicPr>
            <a:picLocks noGrp="1"/>
          </p:cNvPicPr>
          <p:nvPr>
            <p:ph idx="1"/>
          </p:nvPr>
        </p:nvPicPr>
        <p:blipFill rotWithShape="1">
          <a:blip r:embed="rId4">
            <a:extLst>
              <a:ext uri="{28A0092B-C50C-407E-A947-70E740481C1C}">
                <a14:useLocalDpi xmlns:a14="http://schemas.microsoft.com/office/drawing/2010/main" val="0"/>
              </a:ext>
            </a:extLst>
          </a:blip>
          <a:srcRect l="49614" t="23338" r="18525" b="43374"/>
          <a:stretch/>
        </p:blipFill>
        <p:spPr bwMode="auto">
          <a:xfrm>
            <a:off x="260905" y="620576"/>
            <a:ext cx="5454095" cy="581405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a:ext uri="{53640926-AAD7-44D8-BBD7-CCE9431645EC}">
              <a14:shadowObscured xmlns:a14="http://schemas.microsoft.com/office/drawing/2010/main"/>
            </a:ext>
          </a:extLst>
        </p:spPr>
      </p:pic>
      <p:cxnSp>
        <p:nvCxnSpPr>
          <p:cNvPr id="9" name="Conector recto de flecha 8">
            <a:extLst>
              <a:ext uri="{FF2B5EF4-FFF2-40B4-BE49-F238E27FC236}">
                <a16:creationId xmlns:a16="http://schemas.microsoft.com/office/drawing/2014/main" id="{5A97E9EC-E0CE-4DFB-B820-26E1FA9A2FC5}"/>
              </a:ext>
            </a:extLst>
          </p:cNvPr>
          <p:cNvCxnSpPr/>
          <p:nvPr/>
        </p:nvCxnSpPr>
        <p:spPr>
          <a:xfrm>
            <a:off x="5852160" y="1245326"/>
            <a:ext cx="1985554" cy="3238953"/>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1121121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D59B96D-CC7A-424F-8544-F270687C43A8}"/>
              </a:ext>
            </a:extLst>
          </p:cNvPr>
          <p:cNvSpPr>
            <a:spLocks noGrp="1"/>
          </p:cNvSpPr>
          <p:nvPr>
            <p:ph type="title"/>
          </p:nvPr>
        </p:nvSpPr>
        <p:spPr>
          <a:xfrm>
            <a:off x="838200" y="819150"/>
            <a:ext cx="10687050" cy="2362200"/>
          </a:xfrm>
        </p:spPr>
        <p:txBody>
          <a:bodyPr>
            <a:normAutofit/>
          </a:bodyPr>
          <a:lstStyle/>
          <a:p>
            <a:r>
              <a:rPr lang="es-MX" sz="4000" b="0" i="0" dirty="0">
                <a:solidFill>
                  <a:schemeClr val="accent2">
                    <a:lumMod val="75000"/>
                  </a:schemeClr>
                </a:solidFill>
                <a:effectLst/>
                <a:latin typeface="Arial" panose="020B0604020202020204" pitchFamily="34" charset="0"/>
                <a:cs typeface="Arial" panose="020B0604020202020204" pitchFamily="34" charset="0"/>
              </a:rPr>
              <a:t>¿Qué elementos de tu entorno cercano podrían contribuir al problema de la historia que leíste?</a:t>
            </a:r>
            <a:br>
              <a:rPr lang="es-MX" sz="4000" b="0" i="0" dirty="0">
                <a:solidFill>
                  <a:schemeClr val="accent2">
                    <a:lumMod val="75000"/>
                  </a:schemeClr>
                </a:solidFill>
                <a:effectLst/>
                <a:latin typeface="Arial" panose="020B0604020202020204" pitchFamily="34" charset="0"/>
                <a:cs typeface="Arial" panose="020B0604020202020204" pitchFamily="34" charset="0"/>
              </a:rPr>
            </a:br>
            <a:endParaRPr lang="en-US" dirty="0">
              <a:solidFill>
                <a:schemeClr val="accent2">
                  <a:lumMod val="75000"/>
                </a:schemeClr>
              </a:solidFill>
            </a:endParaRPr>
          </a:p>
        </p:txBody>
      </p:sp>
      <p:sp>
        <p:nvSpPr>
          <p:cNvPr id="3" name="Marcador de contenido 2">
            <a:extLst>
              <a:ext uri="{FF2B5EF4-FFF2-40B4-BE49-F238E27FC236}">
                <a16:creationId xmlns:a16="http://schemas.microsoft.com/office/drawing/2014/main" id="{324E3C95-6B5D-4BF7-A241-BCB2B4EB04C9}"/>
              </a:ext>
            </a:extLst>
          </p:cNvPr>
          <p:cNvSpPr>
            <a:spLocks noGrp="1"/>
          </p:cNvSpPr>
          <p:nvPr>
            <p:ph idx="1"/>
          </p:nvPr>
        </p:nvSpPr>
        <p:spPr/>
        <p:txBody>
          <a:bodyPr>
            <a:normAutofit/>
          </a:bodyPr>
          <a:lstStyle/>
          <a:p>
            <a:pPr marL="0" indent="0">
              <a:buNone/>
            </a:pPr>
            <a:endParaRPr lang="es-MX" sz="1200" dirty="0">
              <a:solidFill>
                <a:srgbClr val="000000"/>
              </a:solidFill>
              <a:latin typeface="Arial" panose="020B0604020202020204" pitchFamily="34" charset="0"/>
              <a:cs typeface="Arial" panose="020B0604020202020204" pitchFamily="34" charset="0"/>
            </a:endParaRPr>
          </a:p>
          <a:p>
            <a:pPr marL="0" indent="0">
              <a:buNone/>
            </a:pPr>
            <a:endParaRPr lang="es-MX" sz="1200" dirty="0">
              <a:solidFill>
                <a:srgbClr val="000000"/>
              </a:solidFill>
              <a:latin typeface="Arial" panose="020B0604020202020204" pitchFamily="34" charset="0"/>
              <a:cs typeface="Arial" panose="020B0604020202020204" pitchFamily="34" charset="0"/>
            </a:endParaRPr>
          </a:p>
          <a:p>
            <a:pPr marL="0" indent="0">
              <a:buNone/>
            </a:pPr>
            <a:endParaRPr lang="es-MX" sz="1200" dirty="0">
              <a:solidFill>
                <a:srgbClr val="000000"/>
              </a:solidFill>
              <a:latin typeface="Arial" panose="020B0604020202020204" pitchFamily="34" charset="0"/>
              <a:cs typeface="Arial" panose="020B0604020202020204" pitchFamily="34" charset="0"/>
            </a:endParaRPr>
          </a:p>
          <a:p>
            <a:pPr algn="just">
              <a:buFont typeface="Wingdings" panose="05000000000000000000" pitchFamily="2" charset="2"/>
              <a:buChar char="Ø"/>
            </a:pPr>
            <a:r>
              <a:rPr lang="es-MX" sz="1800" i="0" dirty="0">
                <a:solidFill>
                  <a:srgbClr val="000000"/>
                </a:solidFill>
                <a:effectLst/>
                <a:latin typeface="Arial" panose="020B0604020202020204" pitchFamily="34" charset="0"/>
                <a:cs typeface="Arial" panose="020B0604020202020204" pitchFamily="34" charset="0"/>
              </a:rPr>
              <a:t>Que los padres</a:t>
            </a:r>
            <a:r>
              <a:rPr lang="es-MX" sz="1800" dirty="0">
                <a:solidFill>
                  <a:srgbClr val="000000"/>
                </a:solidFill>
                <a:latin typeface="Arial" panose="020B0604020202020204" pitchFamily="34" charset="0"/>
                <a:cs typeface="Arial" panose="020B0604020202020204" pitchFamily="34" charset="0"/>
              </a:rPr>
              <a:t> no ponen limites a sus hijos y les dejan usar el teléfono mucho tiempo</a:t>
            </a:r>
          </a:p>
          <a:p>
            <a:pPr algn="just">
              <a:buFont typeface="Wingdings" panose="05000000000000000000" pitchFamily="2" charset="2"/>
              <a:buChar char="Ø"/>
            </a:pPr>
            <a:r>
              <a:rPr lang="es-MX" sz="1800" i="0" dirty="0">
                <a:solidFill>
                  <a:srgbClr val="000000"/>
                </a:solidFill>
                <a:effectLst/>
                <a:latin typeface="Arial" panose="020B0604020202020204" pitchFamily="34" charset="0"/>
                <a:cs typeface="Arial" panose="020B0604020202020204" pitchFamily="34" charset="0"/>
              </a:rPr>
              <a:t>No hay control parental</a:t>
            </a:r>
          </a:p>
          <a:p>
            <a:pPr algn="just">
              <a:buFont typeface="Wingdings" panose="05000000000000000000" pitchFamily="2" charset="2"/>
              <a:buChar char="Ø"/>
            </a:pPr>
            <a:r>
              <a:rPr lang="es-MX" sz="1800" dirty="0">
                <a:solidFill>
                  <a:srgbClr val="000000"/>
                </a:solidFill>
                <a:latin typeface="Arial" panose="020B0604020202020204" pitchFamily="34" charset="0"/>
                <a:cs typeface="Arial" panose="020B0604020202020204" pitchFamily="34" charset="0"/>
              </a:rPr>
              <a:t>La falta de comunicación con nuestros padres.</a:t>
            </a:r>
          </a:p>
          <a:p>
            <a:pPr algn="just">
              <a:buFont typeface="Wingdings" panose="05000000000000000000" pitchFamily="2" charset="2"/>
              <a:buChar char="Ø"/>
            </a:pPr>
            <a:r>
              <a:rPr lang="es-MX" sz="1800" i="0" dirty="0">
                <a:solidFill>
                  <a:srgbClr val="000000"/>
                </a:solidFill>
                <a:effectLst/>
                <a:latin typeface="Arial" panose="020B0604020202020204" pitchFamily="34" charset="0"/>
                <a:cs typeface="Arial" panose="020B0604020202020204" pitchFamily="34" charset="0"/>
              </a:rPr>
              <a:t>Falta de amistades </a:t>
            </a:r>
            <a:r>
              <a:rPr lang="es-MX" sz="1800" dirty="0">
                <a:solidFill>
                  <a:srgbClr val="000000"/>
                </a:solidFill>
                <a:latin typeface="Arial" panose="020B0604020202020204" pitchFamily="34" charset="0"/>
                <a:cs typeface="Arial" panose="020B0604020202020204" pitchFamily="34" charset="0"/>
              </a:rPr>
              <a:t>sanas </a:t>
            </a:r>
          </a:p>
          <a:p>
            <a:pPr algn="just">
              <a:buFont typeface="Wingdings" panose="05000000000000000000" pitchFamily="2" charset="2"/>
              <a:buChar char="Ø"/>
            </a:pPr>
            <a:endParaRPr lang="es-MX" sz="1800" i="0" dirty="0">
              <a:solidFill>
                <a:srgbClr val="000000"/>
              </a:solidFill>
              <a:effectLst/>
              <a:latin typeface="Arial" panose="020B0604020202020204" pitchFamily="34" charset="0"/>
              <a:cs typeface="Arial" panose="020B0604020202020204" pitchFamily="34" charset="0"/>
            </a:endParaRPr>
          </a:p>
          <a:p>
            <a:pPr marL="0" indent="0" algn="just">
              <a:buNone/>
            </a:pPr>
            <a:endParaRPr lang="es-MX" sz="1800" i="0" dirty="0">
              <a:solidFill>
                <a:srgbClr val="0F1115"/>
              </a:solidFill>
              <a:effectLst/>
              <a:latin typeface="Arial" panose="020B0604020202020204" pitchFamily="34" charset="0"/>
              <a:cs typeface="Arial" panose="020B0604020202020204" pitchFamily="34" charset="0"/>
            </a:endParaRPr>
          </a:p>
          <a:p>
            <a:pPr marL="0" indent="0">
              <a:buNone/>
            </a:pPr>
            <a:endParaRPr lang="es-MX" sz="1200" dirty="0">
              <a:solidFill>
                <a:srgbClr val="0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397785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contenido 3">
            <a:extLst>
              <a:ext uri="{FF2B5EF4-FFF2-40B4-BE49-F238E27FC236}">
                <a16:creationId xmlns:a16="http://schemas.microsoft.com/office/drawing/2014/main" id="{710008CB-2194-4B06-9F4B-7FD4DCB556A9}"/>
              </a:ext>
            </a:extLst>
          </p:cNvPr>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a:xfrm>
            <a:off x="495301" y="1352550"/>
            <a:ext cx="4552950" cy="4991100"/>
          </a:xfrm>
          <a:prstGeom prst="rect">
            <a:avLst/>
          </a:prstGeom>
        </p:spPr>
      </p:pic>
      <p:sp>
        <p:nvSpPr>
          <p:cNvPr id="6" name="CuadroTexto 5">
            <a:extLst>
              <a:ext uri="{FF2B5EF4-FFF2-40B4-BE49-F238E27FC236}">
                <a16:creationId xmlns:a16="http://schemas.microsoft.com/office/drawing/2014/main" id="{C58DC2A6-961F-4B2A-BF81-CE9B99C423B7}"/>
              </a:ext>
            </a:extLst>
          </p:cNvPr>
          <p:cNvSpPr txBox="1"/>
          <p:nvPr/>
        </p:nvSpPr>
        <p:spPr>
          <a:xfrm>
            <a:off x="5982651" y="4086225"/>
            <a:ext cx="5364479" cy="1766189"/>
          </a:xfrm>
          <a:prstGeom prst="rect">
            <a:avLst/>
          </a:prstGeom>
          <a:noFill/>
        </p:spPr>
        <p:txBody>
          <a:bodyPr wrap="square">
            <a:spAutoFit/>
          </a:bodyPr>
          <a:lstStyle/>
          <a:p>
            <a:pPr>
              <a:lnSpc>
                <a:spcPct val="107000"/>
              </a:lnSpc>
              <a:spcAft>
                <a:spcPts val="800"/>
              </a:spcAft>
            </a:pPr>
            <a:r>
              <a:rPr lang="es-MX" sz="1800" i="1" dirty="0">
                <a:effectLst/>
                <a:latin typeface="Calibri" panose="020F0502020204030204" pitchFamily="34" charset="0"/>
                <a:ea typeface="Calibri" panose="020F0502020204030204" pitchFamily="34" charset="0"/>
                <a:cs typeface="Times New Roman" panose="02020603050405020304" pitchFamily="18" charset="0"/>
              </a:rPr>
              <a:t>Sexting y como evitarlo</a:t>
            </a:r>
            <a:r>
              <a:rPr lang="es-MX" sz="1800" dirty="0">
                <a:effectLst/>
                <a:latin typeface="Calibri" panose="020F0502020204030204" pitchFamily="34" charset="0"/>
                <a:ea typeface="Calibri" panose="020F0502020204030204" pitchFamily="34" charset="0"/>
                <a:cs typeface="Times New Roman" panose="02020603050405020304" pitchFamily="18" charset="0"/>
              </a:rPr>
              <a:t>. Recuperado de: </a:t>
            </a:r>
            <a:r>
              <a:rPr lang="es-MX" sz="1800" dirty="0">
                <a:effectLst/>
                <a:latin typeface="Calibri" panose="020F0502020204030204" pitchFamily="34" charset="0"/>
                <a:ea typeface="Calibri" panose="020F0502020204030204" pitchFamily="34" charset="0"/>
                <a:cs typeface="Times New Roman" panose="02020603050405020304" pitchFamily="18" charset="0"/>
                <a:hlinkClick r:id="rId3"/>
              </a:rPr>
              <a:t>https://infanciayfamilias.castillalamancha.es/que-es-el-sexting</a:t>
            </a:r>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MX" dirty="0">
                <a:latin typeface="Calibri" panose="020F0502020204030204" pitchFamily="34" charset="0"/>
                <a:ea typeface="Calibri" panose="020F0502020204030204" pitchFamily="34" charset="0"/>
                <a:cs typeface="Times New Roman" panose="02020603050405020304" pitchFamily="18" charset="0"/>
              </a:rPr>
              <a:t>Analía Pérez Pérez</a:t>
            </a:r>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CuadroTexto 8">
            <a:extLst>
              <a:ext uri="{FF2B5EF4-FFF2-40B4-BE49-F238E27FC236}">
                <a16:creationId xmlns:a16="http://schemas.microsoft.com/office/drawing/2014/main" id="{B181937F-F81F-4648-9AB4-776B3B4A59CA}"/>
              </a:ext>
            </a:extLst>
          </p:cNvPr>
          <p:cNvSpPr txBox="1"/>
          <p:nvPr/>
        </p:nvSpPr>
        <p:spPr>
          <a:xfrm>
            <a:off x="800100" y="343495"/>
            <a:ext cx="10458450" cy="646331"/>
          </a:xfrm>
          <a:prstGeom prst="rect">
            <a:avLst/>
          </a:prstGeom>
          <a:noFill/>
        </p:spPr>
        <p:txBody>
          <a:bodyPr wrap="square" rtlCol="0">
            <a:spAutoFit/>
          </a:bodyPr>
          <a:lstStyle/>
          <a:p>
            <a:r>
              <a:rPr lang="es-MX" dirty="0">
                <a:latin typeface="Arial" panose="020B0604020202020204" pitchFamily="34" charset="0"/>
                <a:cs typeface="Arial" panose="020B0604020202020204" pitchFamily="34" charset="0"/>
              </a:rPr>
              <a:t>Estas imágenes nos enseñan  como evitar el sexting de varias manera por ejemplo: no compartirlas con nadie, así como las posibles consecuencias de difundir sin el consentimiento de la persona. </a:t>
            </a:r>
            <a:endParaRPr lang="en-US" dirty="0">
              <a:latin typeface="Arial" panose="020B0604020202020204" pitchFamily="34" charset="0"/>
              <a:cs typeface="Arial" panose="020B0604020202020204" pitchFamily="34" charset="0"/>
            </a:endParaRPr>
          </a:p>
        </p:txBody>
      </p:sp>
      <p:cxnSp>
        <p:nvCxnSpPr>
          <p:cNvPr id="11" name="Conector recto de flecha 10">
            <a:extLst>
              <a:ext uri="{FF2B5EF4-FFF2-40B4-BE49-F238E27FC236}">
                <a16:creationId xmlns:a16="http://schemas.microsoft.com/office/drawing/2014/main" id="{AEA04855-AEB2-4279-98D6-69866EAF4B6E}"/>
              </a:ext>
            </a:extLst>
          </p:cNvPr>
          <p:cNvCxnSpPr/>
          <p:nvPr/>
        </p:nvCxnSpPr>
        <p:spPr>
          <a:xfrm>
            <a:off x="4892039" y="1524000"/>
            <a:ext cx="2181225" cy="2543175"/>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11454422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6310609-DB46-47C6-A30F-E6171E69057B}"/>
              </a:ext>
            </a:extLst>
          </p:cNvPr>
          <p:cNvSpPr>
            <a:spLocks noGrp="1"/>
          </p:cNvSpPr>
          <p:nvPr>
            <p:ph type="title"/>
          </p:nvPr>
        </p:nvSpPr>
        <p:spPr>
          <a:xfrm>
            <a:off x="6681304" y="3780942"/>
            <a:ext cx="5000625" cy="3200399"/>
          </a:xfrm>
        </p:spPr>
        <p:txBody>
          <a:bodyPr>
            <a:normAutofit fontScale="90000"/>
          </a:bodyPr>
          <a:lstStyle/>
          <a:p>
            <a:pPr rtl="0">
              <a:spcBef>
                <a:spcPts val="0"/>
              </a:spcBef>
              <a:spcAft>
                <a:spcPts val="0"/>
              </a:spcAft>
            </a:pPr>
            <a:r>
              <a:rPr lang="es-MX" sz="1800" b="0" i="0" u="none" strike="noStrike" dirty="0">
                <a:solidFill>
                  <a:srgbClr val="222222"/>
                </a:solidFill>
                <a:effectLst/>
                <a:latin typeface="Arial" panose="020B0604020202020204" pitchFamily="34" charset="0"/>
              </a:rPr>
              <a:t> Gaceta Universidad Abierta y a Distancia de México. (4/06/2022). ¿De qué trata la Ley Olimpia?. Gobierno de México. </a:t>
            </a:r>
            <a:r>
              <a:rPr lang="es-MX" sz="1800" b="0" i="0" u="sng" strike="noStrike" dirty="0">
                <a:solidFill>
                  <a:srgbClr val="1155CC"/>
                </a:solidFill>
                <a:effectLst/>
                <a:latin typeface="Arial" panose="020B0604020202020204" pitchFamily="34" charset="0"/>
                <a:hlinkClick r:id="rId2"/>
              </a:rPr>
              <a:t>https://gaceta.unadmexico.mx/historico-anual/66-2022/marzo-abril-2022/genero/112-de-que-trata-la-ley-olimpia</a:t>
            </a:r>
            <a:br>
              <a:rPr lang="es-MX" sz="1800" b="0" i="0" u="sng" strike="noStrike" dirty="0">
                <a:solidFill>
                  <a:srgbClr val="1155CC"/>
                </a:solidFill>
                <a:effectLst/>
                <a:latin typeface="Arial" panose="020B0604020202020204" pitchFamily="34" charset="0"/>
              </a:rPr>
            </a:br>
            <a:br>
              <a:rPr lang="es-MX" sz="1800" b="0" i="0" u="sng" strike="noStrike" dirty="0">
                <a:solidFill>
                  <a:srgbClr val="1155CC"/>
                </a:solidFill>
                <a:effectLst/>
                <a:latin typeface="Arial" panose="020B0604020202020204" pitchFamily="34" charset="0"/>
              </a:rPr>
            </a:br>
            <a:br>
              <a:rPr lang="es-MX" sz="1800" b="0" i="0" u="sng" strike="noStrike" dirty="0">
                <a:solidFill>
                  <a:srgbClr val="1155CC"/>
                </a:solidFill>
                <a:effectLst/>
                <a:latin typeface="Arial" panose="020B0604020202020204" pitchFamily="34" charset="0"/>
              </a:rPr>
            </a:br>
            <a:r>
              <a:rPr lang="es-MX" sz="1800" b="0" i="0" u="none" strike="noStrike" dirty="0">
                <a:solidFill>
                  <a:srgbClr val="000000"/>
                </a:solidFill>
                <a:effectLst/>
                <a:latin typeface="Arial" panose="020B0604020202020204" pitchFamily="34" charset="0"/>
              </a:rPr>
              <a:t>María Guadalupe Pérez Bueno.​</a:t>
            </a:r>
            <a:br>
              <a:rPr lang="es-MX" b="0" dirty="0">
                <a:effectLst/>
              </a:rPr>
            </a:br>
            <a:r>
              <a:rPr lang="es-MX" sz="1800" b="0" i="0" u="none" strike="noStrike" dirty="0">
                <a:solidFill>
                  <a:srgbClr val="000000"/>
                </a:solidFill>
                <a:effectLst/>
                <a:latin typeface="Arial" panose="020B0604020202020204" pitchFamily="34" charset="0"/>
              </a:rPr>
              <a:t>Grupo:</a:t>
            </a:r>
            <a:r>
              <a:rPr lang="es-MX" sz="1800" b="0" i="0" u="none" strike="noStrike" dirty="0">
                <a:solidFill>
                  <a:srgbClr val="000000"/>
                </a:solidFill>
                <a:effectLst/>
                <a:latin typeface="Calibri" panose="020F0502020204030204" pitchFamily="34" charset="0"/>
              </a:rPr>
              <a:t> M3C1G69-020.</a:t>
            </a:r>
            <a:br>
              <a:rPr lang="es-MX" b="0" dirty="0">
                <a:effectLst/>
              </a:rPr>
            </a:br>
            <a:br>
              <a:rPr lang="es-MX" dirty="0"/>
            </a:br>
            <a:endParaRPr lang="en-US" dirty="0"/>
          </a:p>
        </p:txBody>
      </p:sp>
      <p:pic>
        <p:nvPicPr>
          <p:cNvPr id="4098" name="Picture 2">
            <a:extLst>
              <a:ext uri="{FF2B5EF4-FFF2-40B4-BE49-F238E27FC236}">
                <a16:creationId xmlns:a16="http://schemas.microsoft.com/office/drawing/2014/main" id="{F7C7D0AE-BC9B-450A-A924-B6F3778DC521}"/>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510071" y="1389686"/>
            <a:ext cx="5271604" cy="478251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675068A8-57F5-4784-B80A-2A85CAA564F1}"/>
              </a:ext>
            </a:extLst>
          </p:cNvPr>
          <p:cNvSpPr txBox="1"/>
          <p:nvPr/>
        </p:nvSpPr>
        <p:spPr>
          <a:xfrm>
            <a:off x="704850" y="435703"/>
            <a:ext cx="11163300" cy="923330"/>
          </a:xfrm>
          <a:prstGeom prst="rect">
            <a:avLst/>
          </a:prstGeom>
          <a:noFill/>
        </p:spPr>
        <p:txBody>
          <a:bodyPr wrap="square" rtlCol="0">
            <a:spAutoFit/>
          </a:bodyPr>
          <a:lstStyle/>
          <a:p>
            <a:r>
              <a:rPr lang="es-MX" dirty="0">
                <a:latin typeface="Arial" panose="020B0604020202020204" pitchFamily="34" charset="0"/>
                <a:cs typeface="Arial" panose="020B0604020202020204" pitchFamily="34" charset="0"/>
              </a:rPr>
              <a:t>En esta imagen vemos,  que cuando una persona comparte  fotos intimas de otra sin su consentimiento eso es un delito y  ya hay una ley que nos defiende conocida como “La ley Olimpia”, la cual  sanciona: difundir, publicar y compilar contenido íntimo sin el consentimiento de la persona.</a:t>
            </a:r>
            <a:endParaRPr lang="en-US" dirty="0">
              <a:latin typeface="Arial" panose="020B0604020202020204" pitchFamily="34" charset="0"/>
              <a:cs typeface="Arial" panose="020B0604020202020204" pitchFamily="34" charset="0"/>
            </a:endParaRPr>
          </a:p>
        </p:txBody>
      </p:sp>
      <p:cxnSp>
        <p:nvCxnSpPr>
          <p:cNvPr id="8" name="Conector recto de flecha 7">
            <a:extLst>
              <a:ext uri="{FF2B5EF4-FFF2-40B4-BE49-F238E27FC236}">
                <a16:creationId xmlns:a16="http://schemas.microsoft.com/office/drawing/2014/main" id="{DE183A45-2EB0-4184-A77F-07B4D5D55837}"/>
              </a:ext>
            </a:extLst>
          </p:cNvPr>
          <p:cNvCxnSpPr>
            <a:cxnSpLocks/>
          </p:cNvCxnSpPr>
          <p:nvPr/>
        </p:nvCxnSpPr>
        <p:spPr>
          <a:xfrm>
            <a:off x="5629275" y="2657475"/>
            <a:ext cx="1847850" cy="1009650"/>
          </a:xfrm>
          <a:prstGeom prst="straightConnector1">
            <a:avLst/>
          </a:prstGeom>
          <a:ln>
            <a:tailEnd type="triangle"/>
          </a:ln>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val="15526521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a:extLst>
              <a:ext uri="{FF2B5EF4-FFF2-40B4-BE49-F238E27FC236}">
                <a16:creationId xmlns:a16="http://schemas.microsoft.com/office/drawing/2014/main" id="{8BF2C660-DB63-4BAD-844D-7211BA16257C}"/>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15883" b="32882"/>
          <a:stretch/>
        </p:blipFill>
        <p:spPr bwMode="auto">
          <a:xfrm>
            <a:off x="771372" y="1349827"/>
            <a:ext cx="3835462" cy="4366859"/>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DADDF977-5F33-4623-B420-268E10B8686D}"/>
              </a:ext>
            </a:extLst>
          </p:cNvPr>
          <p:cNvSpPr txBox="1"/>
          <p:nvPr/>
        </p:nvSpPr>
        <p:spPr>
          <a:xfrm>
            <a:off x="5512525" y="4026456"/>
            <a:ext cx="4293326" cy="2831544"/>
          </a:xfrm>
          <a:prstGeom prst="rect">
            <a:avLst/>
          </a:prstGeom>
          <a:noFill/>
        </p:spPr>
        <p:txBody>
          <a:bodyPr wrap="square">
            <a:spAutoFit/>
          </a:bodyPr>
          <a:lstStyle/>
          <a:p>
            <a:pPr rtl="0">
              <a:spcBef>
                <a:spcPts val="0"/>
              </a:spcBef>
              <a:spcAft>
                <a:spcPts val="0"/>
              </a:spcAft>
            </a:pPr>
            <a:r>
              <a:rPr lang="es-MX" sz="1800" b="0" i="0" u="none" strike="noStrike" dirty="0">
                <a:solidFill>
                  <a:srgbClr val="000000"/>
                </a:solidFill>
                <a:effectLst/>
                <a:latin typeface="Arial" panose="020B0604020202020204" pitchFamily="34" charset="0"/>
              </a:rPr>
              <a:t>Lozoya, J. (2024, Octubre 02). </a:t>
            </a:r>
            <a:r>
              <a:rPr lang="es-MX" sz="1800" b="0" i="1" u="none" strike="noStrike" dirty="0">
                <a:solidFill>
                  <a:srgbClr val="000000"/>
                </a:solidFill>
                <a:effectLst/>
                <a:latin typeface="Arial" panose="020B0604020202020204" pitchFamily="34" charset="0"/>
              </a:rPr>
              <a:t>Ten Cuidado con el Sexting y NO compartas fotos o videos íntimos. </a:t>
            </a:r>
            <a:r>
              <a:rPr lang="es-MX" sz="1800" b="0" i="0" u="none" strike="noStrike" dirty="0">
                <a:solidFill>
                  <a:srgbClr val="000000"/>
                </a:solidFill>
                <a:effectLst/>
                <a:latin typeface="Arial" panose="020B0604020202020204" pitchFamily="34" charset="0"/>
              </a:rPr>
              <a:t>Noticias Manzanillo.</a:t>
            </a:r>
            <a:r>
              <a:rPr lang="es-MX" sz="1800" b="0" i="0" u="none" strike="noStrike" dirty="0">
                <a:solidFill>
                  <a:srgbClr val="000000"/>
                </a:solidFill>
                <a:effectLst/>
                <a:latin typeface="Arial" panose="020B0604020202020204" pitchFamily="34" charset="0"/>
                <a:hlinkClick r:id="rId3"/>
              </a:rPr>
              <a:t> </a:t>
            </a:r>
            <a:endParaRPr lang="es-MX" b="0" dirty="0">
              <a:effectLst/>
            </a:endParaRPr>
          </a:p>
          <a:p>
            <a:pPr rtl="0">
              <a:spcBef>
                <a:spcPts val="0"/>
              </a:spcBef>
              <a:spcAft>
                <a:spcPts val="0"/>
              </a:spcAft>
            </a:pPr>
            <a:r>
              <a:rPr lang="es-MX" sz="1600" b="0" i="0" u="none" strike="noStrike" dirty="0">
                <a:solidFill>
                  <a:srgbClr val="000000"/>
                </a:solidFill>
                <a:effectLst/>
                <a:latin typeface="Arial" panose="020B0604020202020204" pitchFamily="34" charset="0"/>
              </a:rPr>
              <a:t>(Consultado el 02 de Julio 2025)</a:t>
            </a:r>
            <a:endParaRPr lang="es-MX" b="0" dirty="0">
              <a:effectLst/>
            </a:endParaRPr>
          </a:p>
          <a:p>
            <a:pPr rtl="0">
              <a:spcBef>
                <a:spcPts val="0"/>
              </a:spcBef>
              <a:spcAft>
                <a:spcPts val="0"/>
              </a:spcAft>
            </a:pPr>
            <a:r>
              <a:rPr lang="es-MX" sz="1800" b="0" i="0" u="sng" strike="noStrike" dirty="0">
                <a:solidFill>
                  <a:srgbClr val="0000FF"/>
                </a:solidFill>
                <a:effectLst/>
                <a:latin typeface="Arial" panose="020B0604020202020204" pitchFamily="34" charset="0"/>
                <a:hlinkClick r:id="rId3"/>
              </a:rPr>
              <a:t>https://noticiasmanzanillo.com/ten-cuidado-con-el-sexting-y-no-compartas-fotos-o-videos-intimos/</a:t>
            </a:r>
            <a:endParaRPr lang="es-MX" b="0" dirty="0">
              <a:effectLst/>
            </a:endParaRPr>
          </a:p>
          <a:p>
            <a:br>
              <a:rPr lang="es-MX" dirty="0"/>
            </a:br>
            <a:endParaRPr lang="en-US" dirty="0"/>
          </a:p>
        </p:txBody>
      </p:sp>
      <p:sp>
        <p:nvSpPr>
          <p:cNvPr id="12" name="CuadroTexto 11">
            <a:extLst>
              <a:ext uri="{FF2B5EF4-FFF2-40B4-BE49-F238E27FC236}">
                <a16:creationId xmlns:a16="http://schemas.microsoft.com/office/drawing/2014/main" id="{9C4FC178-6E3C-4316-99FF-F5AFB3345C75}"/>
              </a:ext>
            </a:extLst>
          </p:cNvPr>
          <p:cNvSpPr txBox="1"/>
          <p:nvPr/>
        </p:nvSpPr>
        <p:spPr>
          <a:xfrm>
            <a:off x="295275" y="247650"/>
            <a:ext cx="11058525" cy="923330"/>
          </a:xfrm>
          <a:prstGeom prst="rect">
            <a:avLst/>
          </a:prstGeom>
          <a:noFill/>
        </p:spPr>
        <p:txBody>
          <a:bodyPr wrap="square" rtlCol="0">
            <a:spAutoFit/>
          </a:bodyPr>
          <a:lstStyle/>
          <a:p>
            <a:r>
              <a:rPr lang="es-MX" dirty="0">
                <a:latin typeface="Arial" panose="020B0604020202020204" pitchFamily="34" charset="0"/>
                <a:cs typeface="Arial" panose="020B0604020202020204" pitchFamily="34" charset="0"/>
              </a:rPr>
              <a:t>Esta imagen nos enseña a como evitar el sexting si alguien comparte nuestras fotos intimas a alguien mas o si las publica tenemos que pedir ayuda a un familiar  e ir a denunciar con las autoridades para que lo metan preso.</a:t>
            </a:r>
            <a:endParaRPr lang="en-US" dirty="0">
              <a:latin typeface="Arial" panose="020B0604020202020204" pitchFamily="34" charset="0"/>
              <a:cs typeface="Arial" panose="020B0604020202020204" pitchFamily="34" charset="0"/>
            </a:endParaRPr>
          </a:p>
        </p:txBody>
      </p:sp>
      <p:cxnSp>
        <p:nvCxnSpPr>
          <p:cNvPr id="14" name="Conector recto de flecha 13">
            <a:extLst>
              <a:ext uri="{FF2B5EF4-FFF2-40B4-BE49-F238E27FC236}">
                <a16:creationId xmlns:a16="http://schemas.microsoft.com/office/drawing/2014/main" id="{5766E6BB-4A85-45BA-9D98-93C9D503DDD0}"/>
              </a:ext>
            </a:extLst>
          </p:cNvPr>
          <p:cNvCxnSpPr/>
          <p:nvPr/>
        </p:nvCxnSpPr>
        <p:spPr>
          <a:xfrm>
            <a:off x="4606834" y="1828800"/>
            <a:ext cx="1603466" cy="1971675"/>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1349535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06CBE3-D0D6-4036-B419-6D0BBF2CF42E}"/>
              </a:ext>
            </a:extLst>
          </p:cNvPr>
          <p:cNvSpPr>
            <a:spLocks noGrp="1"/>
          </p:cNvSpPr>
          <p:nvPr>
            <p:ph type="title"/>
          </p:nvPr>
        </p:nvSpPr>
        <p:spPr>
          <a:xfrm>
            <a:off x="552450" y="1023937"/>
            <a:ext cx="10515600" cy="1325563"/>
          </a:xfrm>
        </p:spPr>
        <p:txBody>
          <a:bodyPr>
            <a:normAutofit fontScale="90000"/>
          </a:bodyPr>
          <a:lstStyle/>
          <a:p>
            <a:r>
              <a:rPr lang="es-MX" sz="4400" b="0" i="0" dirty="0">
                <a:solidFill>
                  <a:schemeClr val="accent2">
                    <a:lumMod val="75000"/>
                  </a:schemeClr>
                </a:solidFill>
                <a:effectLst/>
                <a:latin typeface="Arial" panose="020B0604020202020204" pitchFamily="34" charset="0"/>
                <a:cs typeface="Arial" panose="020B0604020202020204" pitchFamily="34" charset="0"/>
              </a:rPr>
              <a:t>¿Cómo puedes contribuir a frenar el problema que leíste en la historia en todas sus formas: personal o con el uso de tecnologías?</a:t>
            </a:r>
            <a:br>
              <a:rPr lang="es-MX" sz="4400" b="0" i="0" dirty="0">
                <a:solidFill>
                  <a:schemeClr val="accent2">
                    <a:lumMod val="75000"/>
                  </a:schemeClr>
                </a:solidFill>
                <a:effectLst/>
                <a:latin typeface="Arial" panose="020B0604020202020204" pitchFamily="34" charset="0"/>
                <a:cs typeface="Arial" panose="020B0604020202020204" pitchFamily="34" charset="0"/>
              </a:rPr>
            </a:br>
            <a:endParaRPr lang="en-US" dirty="0">
              <a:solidFill>
                <a:schemeClr val="accent2">
                  <a:lumMod val="75000"/>
                </a:schemeClr>
              </a:solidFill>
            </a:endParaRPr>
          </a:p>
        </p:txBody>
      </p:sp>
      <p:sp>
        <p:nvSpPr>
          <p:cNvPr id="3" name="Marcador de contenido 2">
            <a:extLst>
              <a:ext uri="{FF2B5EF4-FFF2-40B4-BE49-F238E27FC236}">
                <a16:creationId xmlns:a16="http://schemas.microsoft.com/office/drawing/2014/main" id="{E7C2A86B-11A4-4B9C-AE99-69A93A551C5A}"/>
              </a:ext>
            </a:extLst>
          </p:cNvPr>
          <p:cNvSpPr>
            <a:spLocks noGrp="1"/>
          </p:cNvSpPr>
          <p:nvPr>
            <p:ph idx="1"/>
          </p:nvPr>
        </p:nvSpPr>
        <p:spPr>
          <a:xfrm>
            <a:off x="219075" y="2606675"/>
            <a:ext cx="11972925" cy="4351338"/>
          </a:xfrm>
        </p:spPr>
        <p:txBody>
          <a:bodyPr>
            <a:normAutofit/>
          </a:bodyPr>
          <a:lstStyle/>
          <a:p>
            <a:pPr>
              <a:buFont typeface="Wingdings" panose="05000000000000000000" pitchFamily="2" charset="2"/>
              <a:buChar char="Ø"/>
            </a:pPr>
            <a:r>
              <a:rPr lang="es-MX" sz="2400" dirty="0">
                <a:solidFill>
                  <a:srgbClr val="000000"/>
                </a:solidFill>
                <a:latin typeface="Arial" panose="020B0604020202020204" pitchFamily="34" charset="0"/>
                <a:cs typeface="Arial" panose="020B0604020202020204" pitchFamily="34" charset="0"/>
              </a:rPr>
              <a:t>no compartir fotos intimas a nadie</a:t>
            </a:r>
          </a:p>
          <a:p>
            <a:pPr>
              <a:buFont typeface="Wingdings" panose="05000000000000000000" pitchFamily="2" charset="2"/>
              <a:buChar char="Ø"/>
            </a:pPr>
            <a:r>
              <a:rPr lang="es-MX" sz="2400" dirty="0">
                <a:solidFill>
                  <a:srgbClr val="000000"/>
                </a:solidFill>
                <a:latin typeface="Arial" panose="020B0604020202020204" pitchFamily="34" charset="0"/>
                <a:cs typeface="Arial" panose="020B0604020202020204" pitchFamily="34" charset="0"/>
              </a:rPr>
              <a:t>no caer en chantajes</a:t>
            </a:r>
          </a:p>
          <a:p>
            <a:pPr>
              <a:buFont typeface="Wingdings" panose="05000000000000000000" pitchFamily="2" charset="2"/>
              <a:buChar char="Ø"/>
            </a:pPr>
            <a:r>
              <a:rPr lang="es-MX" sz="2400" dirty="0">
                <a:solidFill>
                  <a:srgbClr val="000000"/>
                </a:solidFill>
                <a:latin typeface="Arial" panose="020B0604020202020204" pitchFamily="34" charset="0"/>
                <a:cs typeface="Arial" panose="020B0604020202020204" pitchFamily="34" charset="0"/>
              </a:rPr>
              <a:t> pedir consejos a un familiar de confianza</a:t>
            </a:r>
          </a:p>
          <a:p>
            <a:pPr>
              <a:buFont typeface="Wingdings" panose="05000000000000000000" pitchFamily="2" charset="2"/>
              <a:buChar char="Ø"/>
            </a:pPr>
            <a:r>
              <a:rPr lang="es-MX" sz="2400" dirty="0">
                <a:solidFill>
                  <a:srgbClr val="000000"/>
                </a:solidFill>
                <a:latin typeface="Arial" panose="020B0604020202020204" pitchFamily="34" charset="0"/>
                <a:cs typeface="Arial" panose="020B0604020202020204" pitchFamily="34" charset="0"/>
              </a:rPr>
              <a:t>si alguien te amenaza debes de ir a denunciarlo</a:t>
            </a:r>
          </a:p>
          <a:p>
            <a:pPr>
              <a:buFont typeface="Wingdings" panose="05000000000000000000" pitchFamily="2" charset="2"/>
              <a:buChar char="Ø"/>
            </a:pPr>
            <a:r>
              <a:rPr lang="es-MX" sz="2400" dirty="0">
                <a:solidFill>
                  <a:srgbClr val="000000"/>
                </a:solidFill>
                <a:latin typeface="Arial" panose="020B0604020202020204" pitchFamily="34" charset="0"/>
                <a:cs typeface="Arial" panose="020B0604020202020204" pitchFamily="34" charset="0"/>
              </a:rPr>
              <a:t>no aceptar solicitudes de gente desconocida</a:t>
            </a:r>
          </a:p>
          <a:p>
            <a:pPr>
              <a:buFont typeface="Wingdings" panose="05000000000000000000" pitchFamily="2" charset="2"/>
              <a:buChar char="Ø"/>
            </a:pPr>
            <a:r>
              <a:rPr lang="es-MX" sz="2400" dirty="0">
                <a:solidFill>
                  <a:srgbClr val="000000"/>
                </a:solidFill>
                <a:latin typeface="Arial" panose="020B0604020202020204" pitchFamily="34" charset="0"/>
                <a:cs typeface="Arial" panose="020B0604020202020204" pitchFamily="34" charset="0"/>
              </a:rPr>
              <a:t> compartiendo testimonios de jóvenes que ya pasaron por esa situación y  que por experiencia nos  dicen lo que  se tienen que hacer ante esas situaciones.</a:t>
            </a:r>
            <a:endParaRPr lang="en-US"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286599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E800A05-1414-48BC-A132-16AD1250B421}"/>
              </a:ext>
            </a:extLst>
          </p:cNvPr>
          <p:cNvSpPr>
            <a:spLocks noGrp="1"/>
          </p:cNvSpPr>
          <p:nvPr>
            <p:ph type="title"/>
          </p:nvPr>
        </p:nvSpPr>
        <p:spPr/>
        <p:txBody>
          <a:bodyPr>
            <a:normAutofit/>
          </a:bodyPr>
          <a:lstStyle/>
          <a:p>
            <a:r>
              <a:rPr lang="es-MX" b="0" i="0" dirty="0">
                <a:solidFill>
                  <a:schemeClr val="accent2">
                    <a:lumMod val="75000"/>
                  </a:schemeClr>
                </a:solidFill>
                <a:effectLst/>
                <a:latin typeface="Raleway" pitchFamily="2" charset="0"/>
              </a:rPr>
              <a:t>Relaciones sociales: causas y consecuencias</a:t>
            </a:r>
            <a:r>
              <a:rPr lang="es-MX" b="0" i="0" dirty="0">
                <a:solidFill>
                  <a:srgbClr val="000000"/>
                </a:solidFill>
                <a:effectLst/>
                <a:latin typeface="Raleway" pitchFamily="2" charset="0"/>
              </a:rPr>
              <a:t>.</a:t>
            </a:r>
            <a:endParaRPr lang="en-US" dirty="0"/>
          </a:p>
        </p:txBody>
      </p:sp>
      <p:sp>
        <p:nvSpPr>
          <p:cNvPr id="3" name="Marcador de contenido 2">
            <a:extLst>
              <a:ext uri="{FF2B5EF4-FFF2-40B4-BE49-F238E27FC236}">
                <a16:creationId xmlns:a16="http://schemas.microsoft.com/office/drawing/2014/main" id="{3A8E28D3-5834-4EF2-8F96-D3341342234B}"/>
              </a:ext>
            </a:extLst>
          </p:cNvPr>
          <p:cNvSpPr>
            <a:spLocks noGrp="1"/>
          </p:cNvSpPr>
          <p:nvPr>
            <p:ph idx="1"/>
          </p:nvPr>
        </p:nvSpPr>
        <p:spPr>
          <a:xfrm>
            <a:off x="114299" y="1825624"/>
            <a:ext cx="12011025" cy="4860925"/>
          </a:xfrm>
        </p:spPr>
        <p:txBody>
          <a:bodyPr>
            <a:normAutofit lnSpcReduction="10000"/>
          </a:bodyPr>
          <a:lstStyle/>
          <a:p>
            <a:r>
              <a:rPr lang="es-MX" sz="2000" b="0" i="0" dirty="0">
                <a:solidFill>
                  <a:schemeClr val="accent2">
                    <a:lumMod val="75000"/>
                  </a:schemeClr>
                </a:solidFill>
                <a:effectLst/>
                <a:latin typeface="Arial" panose="020B0604020202020204" pitchFamily="34" charset="0"/>
                <a:cs typeface="Arial" panose="020B0604020202020204" pitchFamily="34" charset="0"/>
              </a:rPr>
              <a:t>¿Qué relaciones sociales (familia, amistades, pareja, entre otras) fueron las causantes del problema planteado en la historia y por qué?</a:t>
            </a:r>
          </a:p>
          <a:p>
            <a:pPr>
              <a:buFont typeface="Wingdings" panose="05000000000000000000" pitchFamily="2" charset="2"/>
              <a:buChar char="Ø"/>
            </a:pPr>
            <a:r>
              <a:rPr lang="es-MX" sz="1800" dirty="0">
                <a:solidFill>
                  <a:srgbClr val="000000"/>
                </a:solidFill>
                <a:latin typeface="Arial" panose="020B0604020202020204" pitchFamily="34" charset="0"/>
                <a:cs typeface="Arial" panose="020B0604020202020204" pitchFamily="34" charset="0"/>
              </a:rPr>
              <a:t>Pareja Carlos: Porque traiciono su confianza y </a:t>
            </a:r>
            <a:r>
              <a:rPr lang="es-MX" sz="1800" dirty="0" err="1">
                <a:solidFill>
                  <a:srgbClr val="000000"/>
                </a:solidFill>
                <a:latin typeface="Arial" panose="020B0604020202020204" pitchFamily="34" charset="0"/>
                <a:cs typeface="Arial" panose="020B0604020202020204" pitchFamily="34" charset="0"/>
              </a:rPr>
              <a:t>compartio</a:t>
            </a:r>
            <a:r>
              <a:rPr lang="es-MX" sz="1800" dirty="0">
                <a:solidFill>
                  <a:srgbClr val="000000"/>
                </a:solidFill>
                <a:latin typeface="Arial" panose="020B0604020202020204" pitchFamily="34" charset="0"/>
                <a:cs typeface="Arial" panose="020B0604020202020204" pitchFamily="34" charset="0"/>
              </a:rPr>
              <a:t> las fotos intimas sin su consentimiento.</a:t>
            </a:r>
          </a:p>
          <a:p>
            <a:pPr>
              <a:buFont typeface="Wingdings" panose="05000000000000000000" pitchFamily="2" charset="2"/>
              <a:buChar char="Ø"/>
            </a:pPr>
            <a:r>
              <a:rPr lang="es-MX" sz="1800" dirty="0">
                <a:solidFill>
                  <a:srgbClr val="000000"/>
                </a:solidFill>
                <a:latin typeface="Arial" panose="020B0604020202020204" pitchFamily="34" charset="0"/>
                <a:cs typeface="Arial" panose="020B0604020202020204" pitchFamily="34" charset="0"/>
              </a:rPr>
              <a:t> Compañeros: Porque el lugar de apoyarla se burlaron, hicieron memes y ayudaron a que se siguieran difundiendo las fotos, pues </a:t>
            </a:r>
            <a:r>
              <a:rPr lang="es-MX" sz="1800" b="0" i="0" dirty="0">
                <a:solidFill>
                  <a:srgbClr val="0F1115"/>
                </a:solidFill>
                <a:effectLst/>
                <a:latin typeface="Arial" panose="020B0604020202020204" pitchFamily="34" charset="0"/>
                <a:cs typeface="Arial" panose="020B0604020202020204" pitchFamily="34" charset="0"/>
              </a:rPr>
              <a:t> en lugar de respetar su privacidad y sentir empatía por ella, actuaron con deslealtad y morbo, lo que agravó su dolor y la dejó sola frente a la humillación.</a:t>
            </a:r>
            <a:endParaRPr lang="es-MX" sz="1800" dirty="0">
              <a:solidFill>
                <a:srgbClr val="000000"/>
              </a:solidFill>
              <a:latin typeface="Arial" panose="020B0604020202020204" pitchFamily="34" charset="0"/>
              <a:cs typeface="Arial" panose="020B0604020202020204" pitchFamily="34" charset="0"/>
            </a:endParaRPr>
          </a:p>
          <a:p>
            <a:r>
              <a:rPr lang="es-MX" sz="2000" b="0" i="0" dirty="0">
                <a:solidFill>
                  <a:schemeClr val="accent2">
                    <a:lumMod val="75000"/>
                  </a:schemeClr>
                </a:solidFill>
                <a:effectLst/>
                <a:latin typeface="Arial" panose="020B0604020202020204" pitchFamily="34" charset="0"/>
                <a:cs typeface="Arial" panose="020B0604020202020204" pitchFamily="34" charset="0"/>
              </a:rPr>
              <a:t>¿Qué relaciones sociales (familia, amistades, pareja, entre otras) se afectaron con el problema planteado en la historia y por qué? </a:t>
            </a:r>
            <a:endParaRPr lang="es-MX" sz="2000" dirty="0">
              <a:solidFill>
                <a:schemeClr val="accent2">
                  <a:lumMod val="75000"/>
                </a:schemeClr>
              </a:solidFill>
              <a:latin typeface="Arial" panose="020B0604020202020204" pitchFamily="34" charset="0"/>
              <a:cs typeface="Arial" panose="020B0604020202020204" pitchFamily="34" charset="0"/>
            </a:endParaRPr>
          </a:p>
          <a:p>
            <a:pPr>
              <a:buFont typeface="Wingdings" panose="05000000000000000000" pitchFamily="2" charset="2"/>
              <a:buChar char="Ø"/>
            </a:pPr>
            <a:r>
              <a:rPr lang="es-MX" sz="1900" dirty="0">
                <a:solidFill>
                  <a:srgbClr val="000000"/>
                </a:solidFill>
                <a:latin typeface="Arial" panose="020B0604020202020204" pitchFamily="34" charset="0"/>
                <a:cs typeface="Arial" panose="020B0604020202020204" pitchFamily="34" charset="0"/>
              </a:rPr>
              <a:t>La </a:t>
            </a:r>
            <a:r>
              <a:rPr lang="es-MX" sz="1900" dirty="0">
                <a:solidFill>
                  <a:srgbClr val="0F1115"/>
                </a:solidFill>
                <a:latin typeface="Arial" panose="020B0604020202020204" pitchFamily="34" charset="0"/>
                <a:cs typeface="Arial" panose="020B0604020202020204" pitchFamily="34" charset="0"/>
              </a:rPr>
              <a:t>r</a:t>
            </a:r>
            <a:r>
              <a:rPr lang="es-MX" sz="1900" i="0" dirty="0">
                <a:solidFill>
                  <a:srgbClr val="0F1115"/>
                </a:solidFill>
                <a:effectLst/>
                <a:latin typeface="Arial" panose="020B0604020202020204" pitchFamily="34" charset="0"/>
                <a:cs typeface="Arial" panose="020B0604020202020204" pitchFamily="34" charset="0"/>
              </a:rPr>
              <a:t>elación con Carlos: </a:t>
            </a:r>
            <a:r>
              <a:rPr lang="es-MX" sz="1900" b="0" i="0" dirty="0">
                <a:solidFill>
                  <a:srgbClr val="0F1115"/>
                </a:solidFill>
                <a:effectLst/>
                <a:latin typeface="Arial" panose="020B0604020202020204" pitchFamily="34" charset="0"/>
                <a:cs typeface="Arial" panose="020B0604020202020204" pitchFamily="34" charset="0"/>
              </a:rPr>
              <a:t>Se rompió por completo porque él traicionó su confianza al difundir la imagen íntima sin permiso, </a:t>
            </a:r>
            <a:r>
              <a:rPr lang="es-MX" sz="1900" b="0" i="0" dirty="0" err="1">
                <a:solidFill>
                  <a:srgbClr val="0F1115"/>
                </a:solidFill>
                <a:effectLst/>
                <a:latin typeface="Arial" panose="020B0604020202020204" pitchFamily="34" charset="0"/>
                <a:cs typeface="Arial" panose="020B0604020202020204" pitchFamily="34" charset="0"/>
              </a:rPr>
              <a:t>demostrandole</a:t>
            </a:r>
            <a:r>
              <a:rPr lang="es-MX" sz="1900" b="0" i="0" dirty="0">
                <a:solidFill>
                  <a:srgbClr val="0F1115"/>
                </a:solidFill>
                <a:effectLst/>
                <a:latin typeface="Arial" panose="020B0604020202020204" pitchFamily="34" charset="0"/>
                <a:cs typeface="Arial" panose="020B0604020202020204" pitchFamily="34" charset="0"/>
              </a:rPr>
              <a:t> que no era una persona confiable ni respetuosa, </a:t>
            </a:r>
          </a:p>
          <a:p>
            <a:pPr>
              <a:buFont typeface="Wingdings" panose="05000000000000000000" pitchFamily="2" charset="2"/>
              <a:buChar char="Ø"/>
            </a:pPr>
            <a:r>
              <a:rPr lang="es-MX" sz="1900" b="0" i="0" dirty="0">
                <a:solidFill>
                  <a:srgbClr val="0F1115"/>
                </a:solidFill>
                <a:effectLst/>
                <a:latin typeface="Arial" panose="020B0604020202020204" pitchFamily="34" charset="0"/>
                <a:cs typeface="Arial" panose="020B0604020202020204" pitchFamily="34" charset="0"/>
              </a:rPr>
              <a:t>se rompió la amistad hacia sus compañeros </a:t>
            </a:r>
          </a:p>
          <a:p>
            <a:pPr>
              <a:buFont typeface="Wingdings" panose="05000000000000000000" pitchFamily="2" charset="2"/>
              <a:buChar char="Ø"/>
            </a:pPr>
            <a:r>
              <a:rPr lang="es-MX" sz="1900" b="0" i="0" dirty="0">
                <a:solidFill>
                  <a:srgbClr val="0F1115"/>
                </a:solidFill>
                <a:effectLst/>
                <a:latin typeface="Arial" panose="020B0604020202020204" pitchFamily="34" charset="0"/>
                <a:cs typeface="Arial" panose="020B0604020202020204" pitchFamily="34" charset="0"/>
              </a:rPr>
              <a:t> la confianza de sus papas por la tristeza, la decepción y la preocupación por todo lo que estaba sucediendo. </a:t>
            </a:r>
            <a:r>
              <a:rPr lang="es-MX" sz="1900" b="0" dirty="0">
                <a:solidFill>
                  <a:srgbClr val="0F1115"/>
                </a:solidFill>
                <a:effectLst/>
                <a:latin typeface="Arial" panose="020B0604020202020204" pitchFamily="34" charset="0"/>
                <a:cs typeface="Arial" panose="020B0604020202020204" pitchFamily="34" charset="0"/>
              </a:rPr>
              <a:t>Porque la difusión de la imagen íntima provoco humillación pública, burlas y aislamiento, hasta que finalmente encontró apoyo en su familia.</a:t>
            </a:r>
          </a:p>
          <a:p>
            <a:pPr marL="0" indent="0">
              <a:buNone/>
            </a:pPr>
            <a:br>
              <a:rPr lang="es-MX" sz="1900" dirty="0">
                <a:solidFill>
                  <a:srgbClr val="81858C"/>
                </a:solidFill>
                <a:effectLst/>
                <a:latin typeface="Arial" panose="020B0604020202020204" pitchFamily="34" charset="0"/>
                <a:cs typeface="Arial" panose="020B0604020202020204" pitchFamily="34" charset="0"/>
              </a:rPr>
            </a:br>
            <a:endParaRPr lang="es-MX" sz="1900" b="0" i="0" dirty="0">
              <a:solidFill>
                <a:srgbClr val="0F1115"/>
              </a:solidFill>
              <a:effectLst/>
              <a:latin typeface="Arial" panose="020B0604020202020204" pitchFamily="34" charset="0"/>
              <a:cs typeface="Arial" panose="020B0604020202020204" pitchFamily="34" charset="0"/>
            </a:endParaRPr>
          </a:p>
          <a:p>
            <a:endParaRPr lang="es-MX" sz="1200" b="1" dirty="0">
              <a:solidFill>
                <a:srgbClr val="0F1115"/>
              </a:solidFill>
              <a:latin typeface="quote-cjk-patch"/>
            </a:endParaRPr>
          </a:p>
          <a:p>
            <a:pPr marL="0" indent="0">
              <a:buNone/>
            </a:pPr>
            <a:endParaRPr lang="en-US"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74977295"/>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404</TotalTime>
  <Words>874</Words>
  <Application>Microsoft Office PowerPoint</Application>
  <PresentationFormat>Panorámica</PresentationFormat>
  <Paragraphs>48</Paragraphs>
  <Slides>11</Slides>
  <Notes>0</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11</vt:i4>
      </vt:variant>
    </vt:vector>
  </HeadingPairs>
  <TitlesOfParts>
    <vt:vector size="19" baseType="lpstr">
      <vt:lpstr>Arial</vt:lpstr>
      <vt:lpstr>Calibri</vt:lpstr>
      <vt:lpstr>Calibri Light</vt:lpstr>
      <vt:lpstr>quote-cjk-patch</vt:lpstr>
      <vt:lpstr>Raleway</vt:lpstr>
      <vt:lpstr>Roboto</vt:lpstr>
      <vt:lpstr>Wingdings</vt:lpstr>
      <vt:lpstr>Tema de Office</vt:lpstr>
      <vt:lpstr>Actividad integradora 6. Problemas sociales </vt:lpstr>
      <vt:lpstr>Presentación de PowerPoint</vt:lpstr>
      <vt:lpstr>En esta imagen se puede ver como una mujer se toma una foto desnuda   UNICEF. (s.f.). Sexting y riesgos en internet.  https://www.unicef.org   Analía Pérez Pérez     </vt:lpstr>
      <vt:lpstr>En este celular se puede ver como una joven se toma una foto intima y le comparte a otra persona  ADSLZone. (7 de noviembre de 2024). Qué pasa al usar fotos sin permiso del autor. https://www.adslzone.net/reportajes/privacidad/derechos-autor-fotos-internet/   Joan Sebastian Vazquez Izaguirre  M3C1G81-007    </vt:lpstr>
      <vt:lpstr>En esta imagen se puede ver como un joven se toma una foto de sus partes intimas  Carlos (s,f)”Origen,Evolución Y riego para los adolescentes y jóvenes.”https://www.ucf.edu.cu/?p=23105  Ayala Rojas Missuri. M3C1G81-007</vt:lpstr>
      <vt:lpstr>¿Qué elementos de tu entorno cercano podrían contribuir al problema de la historia que leíste? </vt:lpstr>
      <vt:lpstr>Presentación de PowerPoint</vt:lpstr>
      <vt:lpstr> Gaceta Universidad Abierta y a Distancia de México. (4/06/2022). ¿De qué trata la Ley Olimpia?. Gobierno de México. https://gaceta.unadmexico.mx/historico-anual/66-2022/marzo-abril-2022/genero/112-de-que-trata-la-ley-olimpia   María Guadalupe Pérez Bueno.​ Grupo: M3C1G69-020.  </vt:lpstr>
      <vt:lpstr>Presentación de PowerPoint</vt:lpstr>
      <vt:lpstr>¿Cómo puedes contribuir a frenar el problema que leíste en la historia en todas sus formas: personal o con el uso de tecnologías? </vt:lpstr>
      <vt:lpstr>Relaciones sociales: causas y consecuencias.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Actividad integradora 6. Problemas sociales</dc:title>
  <dc:creator>Araceli perez</dc:creator>
  <cp:lastModifiedBy>Araceli perez</cp:lastModifiedBy>
  <cp:revision>34</cp:revision>
  <dcterms:created xsi:type="dcterms:W3CDTF">2026-03-08T01:33:51Z</dcterms:created>
  <dcterms:modified xsi:type="dcterms:W3CDTF">2026-03-08T08:18:50Z</dcterms:modified>
</cp:coreProperties>
</file>